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0"/>
  </p:notesMasterIdLst>
  <p:handoutMasterIdLst>
    <p:handoutMasterId r:id="rId21"/>
  </p:handoutMasterIdLst>
  <p:sldIdLst>
    <p:sldId id="302" r:id="rId2"/>
    <p:sldId id="303" r:id="rId3"/>
    <p:sldId id="277" r:id="rId4"/>
    <p:sldId id="299" r:id="rId5"/>
    <p:sldId id="293" r:id="rId6"/>
    <p:sldId id="284" r:id="rId7"/>
    <p:sldId id="304" r:id="rId8"/>
    <p:sldId id="298" r:id="rId9"/>
    <p:sldId id="285" r:id="rId10"/>
    <p:sldId id="305" r:id="rId11"/>
    <p:sldId id="300" r:id="rId12"/>
    <p:sldId id="306" r:id="rId13"/>
    <p:sldId id="281" r:id="rId14"/>
    <p:sldId id="307" r:id="rId15"/>
    <p:sldId id="308" r:id="rId16"/>
    <p:sldId id="309" r:id="rId17"/>
    <p:sldId id="310" r:id="rId18"/>
    <p:sldId id="311" r:id="rId19"/>
  </p:sldIdLst>
  <p:sldSz cx="12192000" cy="6858000"/>
  <p:notesSz cx="9388475" cy="7102475"/>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6FA"/>
    <a:srgbClr val="E6CEF6"/>
    <a:srgbClr val="D50D97"/>
    <a:srgbClr val="DEBFF3"/>
    <a:srgbClr val="FCCDB6"/>
    <a:srgbClr val="D9D9D9"/>
    <a:srgbClr val="004568"/>
    <a:srgbClr val="0074AF"/>
    <a:srgbClr val="00B0F0"/>
    <a:srgbClr val="6EAA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1990CE-F7D6-4557-949A-04815AE3EE98}" v="30" dt="2025-12-17T02:55:55.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886" autoAdjust="0"/>
  </p:normalViewPr>
  <p:slideViewPr>
    <p:cSldViewPr snapToGrid="0">
      <p:cViewPr varScale="1">
        <p:scale>
          <a:sx n="90" d="100"/>
          <a:sy n="90" d="100"/>
        </p:scale>
        <p:origin x="355"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2" d="100"/>
        <a:sy n="82" d="100"/>
      </p:scale>
      <p:origin x="0" y="-82"/>
    </p:cViewPr>
  </p:sorterViewPr>
  <p:notesViewPr>
    <p:cSldViewPr snapToGrid="0">
      <p:cViewPr varScale="1">
        <p:scale>
          <a:sx n="109" d="100"/>
          <a:sy n="109" d="100"/>
        </p:scale>
        <p:origin x="249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  Pierre Londoño Gonzalez" userId="0b2ea08cfefb535b" providerId="LiveId" clId="{7DCA7FBE-8F6F-4797-B0A4-FFB5CF1BC05B}"/>
    <pc:docChg chg="undo custSel modSld">
      <pc:chgData name="Jean  Pierre Londoño Gonzalez" userId="0b2ea08cfefb535b" providerId="LiveId" clId="{7DCA7FBE-8F6F-4797-B0A4-FFB5CF1BC05B}" dt="2025-12-17T02:56:03.865" v="150" actId="478"/>
      <pc:docMkLst>
        <pc:docMk/>
      </pc:docMkLst>
      <pc:sldChg chg="addSp delSp modSp mod">
        <pc:chgData name="Jean  Pierre Londoño Gonzalez" userId="0b2ea08cfefb535b" providerId="LiveId" clId="{7DCA7FBE-8F6F-4797-B0A4-FFB5CF1BC05B}" dt="2025-12-17T02:41:07.149" v="71" actId="207"/>
        <pc:sldMkLst>
          <pc:docMk/>
          <pc:sldMk cId="1990342444" sldId="302"/>
        </pc:sldMkLst>
        <pc:spChg chg="mod">
          <ac:chgData name="Jean  Pierre Londoño Gonzalez" userId="0b2ea08cfefb535b" providerId="LiveId" clId="{7DCA7FBE-8F6F-4797-B0A4-FFB5CF1BC05B}" dt="2025-12-17T02:41:07.149" v="71" actId="207"/>
          <ac:spMkLst>
            <pc:docMk/>
            <pc:sldMk cId="1990342444" sldId="302"/>
            <ac:spMk id="2" creationId="{4888FF20-B131-B23D-93FB-865495828125}"/>
          </ac:spMkLst>
        </pc:spChg>
        <pc:spChg chg="add mod ord">
          <ac:chgData name="Jean  Pierre Londoño Gonzalez" userId="0b2ea08cfefb535b" providerId="LiveId" clId="{7DCA7FBE-8F6F-4797-B0A4-FFB5CF1BC05B}" dt="2025-12-17T02:36:30.867" v="59" actId="207"/>
          <ac:spMkLst>
            <pc:docMk/>
            <pc:sldMk cId="1990342444" sldId="302"/>
            <ac:spMk id="3" creationId="{DC45298E-18BC-60AF-9B07-2BD250AB3191}"/>
          </ac:spMkLst>
        </pc:spChg>
        <pc:spChg chg="mod">
          <ac:chgData name="Jean  Pierre Londoño Gonzalez" userId="0b2ea08cfefb535b" providerId="LiveId" clId="{7DCA7FBE-8F6F-4797-B0A4-FFB5CF1BC05B}" dt="2025-12-17T02:35:50.554" v="56" actId="313"/>
          <ac:spMkLst>
            <pc:docMk/>
            <pc:sldMk cId="1990342444" sldId="302"/>
            <ac:spMk id="7" creationId="{7EC4AE1F-8D15-EADF-65D6-E3824FAB69A1}"/>
          </ac:spMkLst>
        </pc:spChg>
        <pc:spChg chg="mod">
          <ac:chgData name="Jean  Pierre Londoño Gonzalez" userId="0b2ea08cfefb535b" providerId="LiveId" clId="{7DCA7FBE-8F6F-4797-B0A4-FFB5CF1BC05B}" dt="2025-12-17T02:38:43.684" v="67" actId="207"/>
          <ac:spMkLst>
            <pc:docMk/>
            <pc:sldMk cId="1990342444" sldId="302"/>
            <ac:spMk id="10" creationId="{F3707B70-8ED3-F26B-FCEC-D9277368FE0E}"/>
          </ac:spMkLst>
        </pc:spChg>
        <pc:spChg chg="mod">
          <ac:chgData name="Jean  Pierre Londoño Gonzalez" userId="0b2ea08cfefb535b" providerId="LiveId" clId="{7DCA7FBE-8F6F-4797-B0A4-FFB5CF1BC05B}" dt="2025-12-17T02:40:32.437" v="69" actId="14100"/>
          <ac:spMkLst>
            <pc:docMk/>
            <pc:sldMk cId="1990342444" sldId="302"/>
            <ac:spMk id="11" creationId="{082BC97E-E471-B157-1698-DF8ADE25AA21}"/>
          </ac:spMkLst>
        </pc:spChg>
        <pc:spChg chg="mod">
          <ac:chgData name="Jean  Pierre Londoño Gonzalez" userId="0b2ea08cfefb535b" providerId="LiveId" clId="{7DCA7FBE-8F6F-4797-B0A4-FFB5CF1BC05B}" dt="2025-12-17T02:40:24.529" v="68" actId="14100"/>
          <ac:spMkLst>
            <pc:docMk/>
            <pc:sldMk cId="1990342444" sldId="302"/>
            <ac:spMk id="12" creationId="{B422CDDE-D38F-5983-4DB5-4B250A04D441}"/>
          </ac:spMkLst>
        </pc:spChg>
        <pc:spChg chg="mod">
          <ac:chgData name="Jean  Pierre Londoño Gonzalez" userId="0b2ea08cfefb535b" providerId="LiveId" clId="{7DCA7FBE-8F6F-4797-B0A4-FFB5CF1BC05B}" dt="2025-12-17T02:40:47.251" v="70" actId="403"/>
          <ac:spMkLst>
            <pc:docMk/>
            <pc:sldMk cId="1990342444" sldId="302"/>
            <ac:spMk id="13" creationId="{9B9B6C19-FD9D-9C8F-678F-DB650DBB9D95}"/>
          </ac:spMkLst>
        </pc:spChg>
        <pc:picChg chg="del">
          <ac:chgData name="Jean  Pierre Londoño Gonzalez" userId="0b2ea08cfefb535b" providerId="LiveId" clId="{7DCA7FBE-8F6F-4797-B0A4-FFB5CF1BC05B}" dt="2025-12-17T02:32:41.414" v="11" actId="478"/>
          <ac:picMkLst>
            <pc:docMk/>
            <pc:sldMk cId="1990342444" sldId="302"/>
            <ac:picMk id="4" creationId="{C798F959-3F9D-9F65-A0A4-60305325F656}"/>
          </ac:picMkLst>
        </pc:picChg>
        <pc:picChg chg="del mod">
          <ac:chgData name="Jean  Pierre Londoño Gonzalez" userId="0b2ea08cfefb535b" providerId="LiveId" clId="{7DCA7FBE-8F6F-4797-B0A4-FFB5CF1BC05B}" dt="2025-12-17T02:35:19.526" v="26" actId="478"/>
          <ac:picMkLst>
            <pc:docMk/>
            <pc:sldMk cId="1990342444" sldId="302"/>
            <ac:picMk id="6" creationId="{A138A576-D250-06BF-6727-33BCD7FA6B82}"/>
          </ac:picMkLst>
        </pc:picChg>
        <pc:picChg chg="add mod">
          <ac:chgData name="Jean  Pierre Londoño Gonzalez" userId="0b2ea08cfefb535b" providerId="LiveId" clId="{7DCA7FBE-8F6F-4797-B0A4-FFB5CF1BC05B}" dt="2025-12-17T02:32:29.922" v="10" actId="1076"/>
          <ac:picMkLst>
            <pc:docMk/>
            <pc:sldMk cId="1990342444" sldId="302"/>
            <ac:picMk id="1026" creationId="{DE403850-690C-2FA2-42D3-7A3F6AFC4981}"/>
          </ac:picMkLst>
        </pc:picChg>
        <pc:picChg chg="del">
          <ac:chgData name="Jean  Pierre Londoño Gonzalez" userId="0b2ea08cfefb535b" providerId="LiveId" clId="{7DCA7FBE-8F6F-4797-B0A4-FFB5CF1BC05B}" dt="2025-12-17T02:32:23.785" v="7" actId="478"/>
          <ac:picMkLst>
            <pc:docMk/>
            <pc:sldMk cId="1990342444" sldId="302"/>
            <ac:picMk id="2050" creationId="{C1E16989-04F5-975B-962E-A4ACC9325B3F}"/>
          </ac:picMkLst>
        </pc:picChg>
      </pc:sldChg>
      <pc:sldChg chg="addSp delSp modSp mod">
        <pc:chgData name="Jean  Pierre Londoño Gonzalez" userId="0b2ea08cfefb535b" providerId="LiveId" clId="{7DCA7FBE-8F6F-4797-B0A4-FFB5CF1BC05B}" dt="2025-12-17T02:56:03.865" v="150" actId="478"/>
        <pc:sldMkLst>
          <pc:docMk/>
          <pc:sldMk cId="32304459" sldId="303"/>
        </pc:sldMkLst>
        <pc:spChg chg="mod">
          <ac:chgData name="Jean  Pierre Londoño Gonzalez" userId="0b2ea08cfefb535b" providerId="LiveId" clId="{7DCA7FBE-8F6F-4797-B0A4-FFB5CF1BC05B}" dt="2025-12-17T02:47:27.897" v="133" actId="122"/>
          <ac:spMkLst>
            <pc:docMk/>
            <pc:sldMk cId="32304459" sldId="303"/>
            <ac:spMk id="6" creationId="{8ACF5419-00D3-6DF2-8F11-D8288C85CCB5}"/>
          </ac:spMkLst>
        </pc:spChg>
        <pc:spChg chg="del">
          <ac:chgData name="Jean  Pierre Londoño Gonzalez" userId="0b2ea08cfefb535b" providerId="LiveId" clId="{7DCA7FBE-8F6F-4797-B0A4-FFB5CF1BC05B}" dt="2025-12-17T02:42:15.841" v="80" actId="478"/>
          <ac:spMkLst>
            <pc:docMk/>
            <pc:sldMk cId="32304459" sldId="303"/>
            <ac:spMk id="7" creationId="{E442B4B4-857A-F0CA-F526-ABC7CB9E99D3}"/>
          </ac:spMkLst>
        </pc:spChg>
        <pc:spChg chg="mod">
          <ac:chgData name="Jean  Pierre Londoño Gonzalez" userId="0b2ea08cfefb535b" providerId="LiveId" clId="{7DCA7FBE-8F6F-4797-B0A4-FFB5CF1BC05B}" dt="2025-12-17T02:46:24.942" v="124" actId="14100"/>
          <ac:spMkLst>
            <pc:docMk/>
            <pc:sldMk cId="32304459" sldId="303"/>
            <ac:spMk id="9" creationId="{FA9EE949-3CA6-7F2A-CCB5-D1E34E5B91E8}"/>
          </ac:spMkLst>
        </pc:spChg>
        <pc:spChg chg="add del">
          <ac:chgData name="Jean  Pierre Londoño Gonzalez" userId="0b2ea08cfefb535b" providerId="LiveId" clId="{7DCA7FBE-8F6F-4797-B0A4-FFB5CF1BC05B}" dt="2025-12-17T02:49:42.245" v="140" actId="22"/>
          <ac:spMkLst>
            <pc:docMk/>
            <pc:sldMk cId="32304459" sldId="303"/>
            <ac:spMk id="12" creationId="{597A9E5E-1DDC-0061-90E1-B992F0723D83}"/>
          </ac:spMkLst>
        </pc:spChg>
        <pc:spChg chg="add del mod">
          <ac:chgData name="Jean  Pierre Londoño Gonzalez" userId="0b2ea08cfefb535b" providerId="LiveId" clId="{7DCA7FBE-8F6F-4797-B0A4-FFB5CF1BC05B}" dt="2025-12-17T02:55:15.658" v="145" actId="478"/>
          <ac:spMkLst>
            <pc:docMk/>
            <pc:sldMk cId="32304459" sldId="303"/>
            <ac:spMk id="14" creationId="{D6435DD2-D249-C36E-7722-5C876B934035}"/>
          </ac:spMkLst>
        </pc:spChg>
        <pc:picChg chg="mod ord">
          <ac:chgData name="Jean  Pierre Londoño Gonzalez" userId="0b2ea08cfefb535b" providerId="LiveId" clId="{7DCA7FBE-8F6F-4797-B0A4-FFB5CF1BC05B}" dt="2025-12-17T02:46:10.747" v="123" actId="14100"/>
          <ac:picMkLst>
            <pc:docMk/>
            <pc:sldMk cId="32304459" sldId="303"/>
            <ac:picMk id="3" creationId="{CCC20968-C3F5-9635-B3E2-BEEEA16AC3CB}"/>
          </ac:picMkLst>
        </pc:picChg>
        <pc:picChg chg="add mod">
          <ac:chgData name="Jean  Pierre Londoño Gonzalez" userId="0b2ea08cfefb535b" providerId="LiveId" clId="{7DCA7FBE-8F6F-4797-B0A4-FFB5CF1BC05B}" dt="2025-12-17T02:44:12.865" v="99" actId="166"/>
          <ac:picMkLst>
            <pc:docMk/>
            <pc:sldMk cId="32304459" sldId="303"/>
            <ac:picMk id="4" creationId="{6851FB60-2E81-6C04-98F1-3D7B52D8B19F}"/>
          </ac:picMkLst>
        </pc:picChg>
        <pc:picChg chg="add del mod">
          <ac:chgData name="Jean  Pierre Londoño Gonzalez" userId="0b2ea08cfefb535b" providerId="LiveId" clId="{7DCA7FBE-8F6F-4797-B0A4-FFB5CF1BC05B}" dt="2025-12-17T02:56:03.865" v="150" actId="478"/>
          <ac:picMkLst>
            <pc:docMk/>
            <pc:sldMk cId="32304459" sldId="303"/>
            <ac:picMk id="7" creationId="{8808DB65-518D-0ADC-2DD1-F72EA812AC9F}"/>
          </ac:picMkLst>
        </pc:picChg>
        <pc:picChg chg="del">
          <ac:chgData name="Jean  Pierre Londoño Gonzalez" userId="0b2ea08cfefb535b" providerId="LiveId" clId="{7DCA7FBE-8F6F-4797-B0A4-FFB5CF1BC05B}" dt="2025-12-17T02:41:38.927" v="74" actId="478"/>
          <ac:picMkLst>
            <pc:docMk/>
            <pc:sldMk cId="32304459" sldId="303"/>
            <ac:picMk id="8" creationId="{9FC3E6DC-4058-FB63-2E78-DFFB901BBCBB}"/>
          </ac:picMkLst>
        </pc:picChg>
        <pc:picChg chg="add mod">
          <ac:chgData name="Jean  Pierre Londoño Gonzalez" userId="0b2ea08cfefb535b" providerId="LiveId" clId="{7DCA7FBE-8F6F-4797-B0A4-FFB5CF1BC05B}" dt="2025-12-17T02:49:42.373" v="141" actId="1076"/>
          <ac:picMkLst>
            <pc:docMk/>
            <pc:sldMk cId="32304459" sldId="303"/>
            <ac:picMk id="10" creationId="{49053266-4E5E-687C-D9A2-27AF9AAB3DEC}"/>
          </ac:picMkLst>
        </pc:picChg>
        <pc:picChg chg="add del mod">
          <ac:chgData name="Jean  Pierre Londoño Gonzalez" userId="0b2ea08cfefb535b" providerId="LiveId" clId="{7DCA7FBE-8F6F-4797-B0A4-FFB5CF1BC05B}" dt="2025-12-17T02:45:25.856" v="112" actId="478"/>
          <ac:picMkLst>
            <pc:docMk/>
            <pc:sldMk cId="32304459" sldId="303"/>
            <ac:picMk id="2050" creationId="{66B292E2-D161-1A7F-B7BC-829F4062DEC7}"/>
          </ac:picMkLst>
        </pc:picChg>
        <pc:picChg chg="del">
          <ac:chgData name="Jean  Pierre Londoño Gonzalez" userId="0b2ea08cfefb535b" providerId="LiveId" clId="{7DCA7FBE-8F6F-4797-B0A4-FFB5CF1BC05B}" dt="2025-12-17T02:43:15.416" v="89" actId="478"/>
          <ac:picMkLst>
            <pc:docMk/>
            <pc:sldMk cId="32304459" sldId="303"/>
            <ac:picMk id="3078" creationId="{50E06B0D-3886-B8F5-98BE-A5A8850B762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pPr rtl="0"/>
            <a:endParaRPr lang="es-ES"/>
          </a:p>
        </p:txBody>
      </p:sp>
      <p:sp>
        <p:nvSpPr>
          <p:cNvPr id="3" name="Marcador de fecha 2"/>
          <p:cNvSpPr>
            <a:spLocks noGrp="1"/>
          </p:cNvSpPr>
          <p:nvPr>
            <p:ph type="dt" sz="quarter" idx="1"/>
          </p:nvPr>
        </p:nvSpPr>
        <p:spPr>
          <a:xfrm>
            <a:off x="5317963" y="1"/>
            <a:ext cx="4068339" cy="356357"/>
          </a:xfrm>
          <a:prstGeom prst="rect">
            <a:avLst/>
          </a:prstGeom>
        </p:spPr>
        <p:txBody>
          <a:bodyPr vert="horz" lIns="94229" tIns="47114" rIns="94229" bIns="47114" rtlCol="0"/>
          <a:lstStyle>
            <a:lvl1pPr algn="r">
              <a:defRPr sz="1200"/>
            </a:lvl1pPr>
          </a:lstStyle>
          <a:p>
            <a:pPr rtl="0"/>
            <a:fld id="{59D80D25-B206-4F2F-A0E5-FE69FB35D407}" type="datetime1">
              <a:rPr lang="es-ES" smtClean="0"/>
              <a:t>16/12/2025</a:t>
            </a:fld>
            <a:endParaRPr lang="es-ES" dirty="0"/>
          </a:p>
        </p:txBody>
      </p:sp>
      <p:sp>
        <p:nvSpPr>
          <p:cNvPr id="4" name="Marcador de pie de página 3"/>
          <p:cNvSpPr>
            <a:spLocks noGrp="1"/>
          </p:cNvSpPr>
          <p:nvPr>
            <p:ph type="ftr" sz="quarter" idx="2"/>
          </p:nvPr>
        </p:nvSpPr>
        <p:spPr>
          <a:xfrm>
            <a:off x="0" y="6746119"/>
            <a:ext cx="4068339" cy="356356"/>
          </a:xfrm>
          <a:prstGeom prst="rect">
            <a:avLst/>
          </a:prstGeom>
        </p:spPr>
        <p:txBody>
          <a:bodyPr vert="horz" lIns="94229" tIns="47114" rIns="94229" bIns="47114" rtlCol="0" anchor="b"/>
          <a:lstStyle>
            <a:lvl1pPr algn="l">
              <a:defRPr sz="1200"/>
            </a:lvl1pPr>
          </a:lstStyle>
          <a:p>
            <a:pPr rtl="0"/>
            <a:endParaRPr lang="es-ES"/>
          </a:p>
        </p:txBody>
      </p:sp>
      <p:sp>
        <p:nvSpPr>
          <p:cNvPr id="5" name="Marcador de posición de número de diapositiva 4"/>
          <p:cNvSpPr>
            <a:spLocks noGrp="1"/>
          </p:cNvSpPr>
          <p:nvPr>
            <p:ph type="sldNum" sz="quarter" idx="3"/>
          </p:nvPr>
        </p:nvSpPr>
        <p:spPr>
          <a:xfrm>
            <a:off x="5317963" y="6746119"/>
            <a:ext cx="4068339" cy="356356"/>
          </a:xfrm>
          <a:prstGeom prst="rect">
            <a:avLst/>
          </a:prstGeom>
        </p:spPr>
        <p:txBody>
          <a:bodyPr vert="horz" lIns="94229" tIns="47114" rIns="94229" bIns="47114" rtlCol="0" anchor="b"/>
          <a:lstStyle>
            <a:lvl1pPr algn="r">
              <a:defRPr sz="1200"/>
            </a:lvl1pPr>
          </a:lstStyle>
          <a:p>
            <a:pPr rtl="0"/>
            <a:fld id="{DBAA5490-FD59-4087-AC7E-016E8A4124C4}" type="slidenum">
              <a:rPr lang="es-ES" smtClean="0"/>
              <a:t>‹Nº›</a:t>
            </a:fld>
            <a:endParaRPr lang="es-ES"/>
          </a:p>
        </p:txBody>
      </p:sp>
    </p:spTree>
    <p:extLst>
      <p:ext uri="{BB962C8B-B14F-4D97-AF65-F5344CB8AC3E}">
        <p14:creationId xmlns:p14="http://schemas.microsoft.com/office/powerpoint/2010/main" val="791092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pPr rtl="0"/>
            <a:endParaRPr lang="es-ES" noProof="0"/>
          </a:p>
        </p:txBody>
      </p:sp>
      <p:sp>
        <p:nvSpPr>
          <p:cNvPr id="3" name="Marcador de fecha 2"/>
          <p:cNvSpPr>
            <a:spLocks noGrp="1"/>
          </p:cNvSpPr>
          <p:nvPr>
            <p:ph type="dt" idx="1"/>
          </p:nvPr>
        </p:nvSpPr>
        <p:spPr>
          <a:xfrm>
            <a:off x="5317963" y="1"/>
            <a:ext cx="4068339" cy="356357"/>
          </a:xfrm>
          <a:prstGeom prst="rect">
            <a:avLst/>
          </a:prstGeom>
        </p:spPr>
        <p:txBody>
          <a:bodyPr vert="horz" lIns="94229" tIns="47114" rIns="94229" bIns="47114" rtlCol="0"/>
          <a:lstStyle>
            <a:lvl1pPr algn="r">
              <a:defRPr sz="1200"/>
            </a:lvl1pPr>
          </a:lstStyle>
          <a:p>
            <a:fld id="{3FA2C1CB-B05A-44AD-87CD-C326C038F977}" type="datetime1">
              <a:rPr lang="es-ES" smtClean="0"/>
              <a:pPr/>
              <a:t>16/12/2025</a:t>
            </a:fld>
            <a:endParaRPr lang="es-ES" dirty="0"/>
          </a:p>
        </p:txBody>
      </p:sp>
      <p:sp>
        <p:nvSpPr>
          <p:cNvPr id="4" name="Marcador de imagen de diapositiva 3"/>
          <p:cNvSpPr>
            <a:spLocks noGrp="1" noRot="1" noChangeAspect="1"/>
          </p:cNvSpPr>
          <p:nvPr>
            <p:ph type="sldImg" idx="2"/>
          </p:nvPr>
        </p:nvSpPr>
        <p:spPr>
          <a:xfrm>
            <a:off x="2563813" y="887413"/>
            <a:ext cx="4260850" cy="2397125"/>
          </a:xfrm>
          <a:prstGeom prst="rect">
            <a:avLst/>
          </a:prstGeom>
          <a:noFill/>
          <a:ln w="12700">
            <a:solidFill>
              <a:prstClr val="black"/>
            </a:solidFill>
          </a:ln>
        </p:spPr>
        <p:txBody>
          <a:bodyPr vert="horz" lIns="94229" tIns="47114" rIns="94229" bIns="47114" rtlCol="0" anchor="ctr"/>
          <a:lstStyle/>
          <a:p>
            <a:pPr rtl="0"/>
            <a:endParaRPr lang="es-ES" noProof="0"/>
          </a:p>
        </p:txBody>
      </p:sp>
      <p:sp>
        <p:nvSpPr>
          <p:cNvPr id="5" name="Marcador de notas 4"/>
          <p:cNvSpPr>
            <a:spLocks noGrp="1"/>
          </p:cNvSpPr>
          <p:nvPr>
            <p:ph type="body" sz="quarter" idx="3"/>
          </p:nvPr>
        </p:nvSpPr>
        <p:spPr>
          <a:xfrm>
            <a:off x="938848" y="3418066"/>
            <a:ext cx="7510780" cy="2796600"/>
          </a:xfrm>
          <a:prstGeom prst="rect">
            <a:avLst/>
          </a:prstGeom>
        </p:spPr>
        <p:txBody>
          <a:bodyPr vert="horz" lIns="94229" tIns="47114" rIns="94229" bIns="47114"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6746119"/>
            <a:ext cx="4068339" cy="356356"/>
          </a:xfrm>
          <a:prstGeom prst="rect">
            <a:avLst/>
          </a:prstGeom>
        </p:spPr>
        <p:txBody>
          <a:bodyPr vert="horz" lIns="94229" tIns="47114" rIns="94229" bIns="47114"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5317963" y="6746119"/>
            <a:ext cx="4068339" cy="356356"/>
          </a:xfrm>
          <a:prstGeom prst="rect">
            <a:avLst/>
          </a:prstGeom>
        </p:spPr>
        <p:txBody>
          <a:bodyPr vert="horz" lIns="94229" tIns="47114" rIns="94229" bIns="47114" rtlCol="0" anchor="b"/>
          <a:lstStyle>
            <a:lvl1pPr algn="r">
              <a:defRPr sz="1200"/>
            </a:lvl1pPr>
          </a:lstStyle>
          <a:p>
            <a:pPr rtl="0"/>
            <a:fld id="{4CBCEA92-F142-4D57-B507-37BDAF44710C}" type="slidenum">
              <a:rPr lang="es-ES" noProof="0" smtClean="0"/>
              <a:t>‹Nº›</a:t>
            </a:fld>
            <a:endParaRPr lang="es-ES" noProof="0"/>
          </a:p>
        </p:txBody>
      </p:sp>
    </p:spTree>
    <p:extLst>
      <p:ext uri="{BB962C8B-B14F-4D97-AF65-F5344CB8AC3E}">
        <p14:creationId xmlns:p14="http://schemas.microsoft.com/office/powerpoint/2010/main" val="1402020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4CBCEA92-F142-4D57-B507-37BDAF44710C}" type="slidenum">
              <a:rPr lang="es-ES" smtClean="0"/>
              <a:t>3</a:t>
            </a:fld>
            <a:endParaRPr lang="es-ES"/>
          </a:p>
        </p:txBody>
      </p:sp>
    </p:spTree>
    <p:extLst>
      <p:ext uri="{BB962C8B-B14F-4D97-AF65-F5344CB8AC3E}">
        <p14:creationId xmlns:p14="http://schemas.microsoft.com/office/powerpoint/2010/main" val="2359891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164B8-C37B-5B28-5358-88E1408C44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305A42-0AE5-E989-C00A-5552E9BCDA3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01DC7B-7C57-8475-4A37-12433EA0AA79}"/>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BAED9788-1AE0-477B-96FE-3BA2445B0343}"/>
              </a:ext>
            </a:extLst>
          </p:cNvPr>
          <p:cNvSpPr>
            <a:spLocks noGrp="1"/>
          </p:cNvSpPr>
          <p:nvPr>
            <p:ph type="sldNum" sz="quarter" idx="5"/>
          </p:nvPr>
        </p:nvSpPr>
        <p:spPr/>
        <p:txBody>
          <a:bodyPr/>
          <a:lstStyle/>
          <a:p>
            <a:pPr rtl="0"/>
            <a:fld id="{4CBCEA92-F142-4D57-B507-37BDAF44710C}" type="slidenum">
              <a:rPr lang="es-ES" smtClean="0"/>
              <a:t>4</a:t>
            </a:fld>
            <a:endParaRPr lang="es-ES"/>
          </a:p>
        </p:txBody>
      </p:sp>
    </p:spTree>
    <p:extLst>
      <p:ext uri="{BB962C8B-B14F-4D97-AF65-F5344CB8AC3E}">
        <p14:creationId xmlns:p14="http://schemas.microsoft.com/office/powerpoint/2010/main" val="3459728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0F37-5180-954D-6487-38D5D66663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EDE21A-043A-5555-F025-EC75225D23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24DEE3-ECD3-1FFB-D80E-B28809F99B0A}"/>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DC54FEB0-00B4-2067-1F3A-CC461379BAE2}"/>
              </a:ext>
            </a:extLst>
          </p:cNvPr>
          <p:cNvSpPr>
            <a:spLocks noGrp="1"/>
          </p:cNvSpPr>
          <p:nvPr>
            <p:ph type="sldNum" sz="quarter" idx="5"/>
          </p:nvPr>
        </p:nvSpPr>
        <p:spPr/>
        <p:txBody>
          <a:bodyPr/>
          <a:lstStyle/>
          <a:p>
            <a:pPr rtl="0"/>
            <a:fld id="{4CBCEA92-F142-4D57-B507-37BDAF44710C}" type="slidenum">
              <a:rPr lang="es-ES" smtClean="0"/>
              <a:t>5</a:t>
            </a:fld>
            <a:endParaRPr lang="es-ES"/>
          </a:p>
        </p:txBody>
      </p:sp>
    </p:spTree>
    <p:extLst>
      <p:ext uri="{BB962C8B-B14F-4D97-AF65-F5344CB8AC3E}">
        <p14:creationId xmlns:p14="http://schemas.microsoft.com/office/powerpoint/2010/main" val="426091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59519-C887-66E8-B25F-EAB134BA33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706A05-01BA-A385-1428-C8E5066620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02924B-CAE6-001A-D850-87F0950D00FF}"/>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EFF01FC9-7162-06F1-3FF0-D5D9E91D2E97}"/>
              </a:ext>
            </a:extLst>
          </p:cNvPr>
          <p:cNvSpPr>
            <a:spLocks noGrp="1"/>
          </p:cNvSpPr>
          <p:nvPr>
            <p:ph type="sldNum" sz="quarter" idx="5"/>
          </p:nvPr>
        </p:nvSpPr>
        <p:spPr/>
        <p:txBody>
          <a:bodyPr/>
          <a:lstStyle/>
          <a:p>
            <a:pPr rtl="0"/>
            <a:fld id="{4CBCEA92-F142-4D57-B507-37BDAF44710C}" type="slidenum">
              <a:rPr lang="es-ES" smtClean="0"/>
              <a:t>6</a:t>
            </a:fld>
            <a:endParaRPr lang="es-ES"/>
          </a:p>
        </p:txBody>
      </p:sp>
    </p:spTree>
    <p:extLst>
      <p:ext uri="{BB962C8B-B14F-4D97-AF65-F5344CB8AC3E}">
        <p14:creationId xmlns:p14="http://schemas.microsoft.com/office/powerpoint/2010/main" val="282119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6880A-362D-2648-DB85-1F016E5235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4683CC-1D02-FB8F-4341-9CA961A154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A62ABD0-DC7E-EB6E-046F-424634050305}"/>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1C66E083-4FDB-8192-3108-C37F711779FD}"/>
              </a:ext>
            </a:extLst>
          </p:cNvPr>
          <p:cNvSpPr>
            <a:spLocks noGrp="1"/>
          </p:cNvSpPr>
          <p:nvPr>
            <p:ph type="sldNum" sz="quarter" idx="5"/>
          </p:nvPr>
        </p:nvSpPr>
        <p:spPr/>
        <p:txBody>
          <a:bodyPr/>
          <a:lstStyle/>
          <a:p>
            <a:pPr rtl="0"/>
            <a:fld id="{4CBCEA92-F142-4D57-B507-37BDAF44710C}" type="slidenum">
              <a:rPr lang="es-ES" smtClean="0"/>
              <a:t>7</a:t>
            </a:fld>
            <a:endParaRPr lang="es-ES"/>
          </a:p>
        </p:txBody>
      </p:sp>
    </p:spTree>
    <p:extLst>
      <p:ext uri="{BB962C8B-B14F-4D97-AF65-F5344CB8AC3E}">
        <p14:creationId xmlns:p14="http://schemas.microsoft.com/office/powerpoint/2010/main" val="59465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FCF81-52D1-DD4F-5D14-E2CC63B945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320F72-42FB-BB61-0C3E-05F7EC34CE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E5F9E7C-87E4-A4B2-4C4C-456C9AC83C48}"/>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0AE82E67-8BC6-3471-DADF-30CA19FCFDF8}"/>
              </a:ext>
            </a:extLst>
          </p:cNvPr>
          <p:cNvSpPr>
            <a:spLocks noGrp="1"/>
          </p:cNvSpPr>
          <p:nvPr>
            <p:ph type="sldNum" sz="quarter" idx="5"/>
          </p:nvPr>
        </p:nvSpPr>
        <p:spPr/>
        <p:txBody>
          <a:bodyPr/>
          <a:lstStyle/>
          <a:p>
            <a:pPr rtl="0"/>
            <a:fld id="{4CBCEA92-F142-4D57-B507-37BDAF44710C}" type="slidenum">
              <a:rPr lang="es-ES" smtClean="0"/>
              <a:t>8</a:t>
            </a:fld>
            <a:endParaRPr lang="es-ES"/>
          </a:p>
        </p:txBody>
      </p:sp>
    </p:spTree>
    <p:extLst>
      <p:ext uri="{BB962C8B-B14F-4D97-AF65-F5344CB8AC3E}">
        <p14:creationId xmlns:p14="http://schemas.microsoft.com/office/powerpoint/2010/main" val="3008781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1780-5D4C-3EE8-59E0-EDE618070D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1E2A43-9F9D-5E32-F02D-76C1E205F9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D1F1A7-CD3B-54E1-1DE9-0CEC6E2BC639}"/>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3155E191-1DF2-53DB-1A63-5CEF3BE27F44}"/>
              </a:ext>
            </a:extLst>
          </p:cNvPr>
          <p:cNvSpPr>
            <a:spLocks noGrp="1"/>
          </p:cNvSpPr>
          <p:nvPr>
            <p:ph type="sldNum" sz="quarter" idx="5"/>
          </p:nvPr>
        </p:nvSpPr>
        <p:spPr/>
        <p:txBody>
          <a:bodyPr/>
          <a:lstStyle/>
          <a:p>
            <a:pPr rtl="0"/>
            <a:fld id="{4CBCEA92-F142-4D57-B507-37BDAF44710C}" type="slidenum">
              <a:rPr lang="es-ES" smtClean="0"/>
              <a:t>9</a:t>
            </a:fld>
            <a:endParaRPr lang="es-ES"/>
          </a:p>
        </p:txBody>
      </p:sp>
    </p:spTree>
    <p:extLst>
      <p:ext uri="{BB962C8B-B14F-4D97-AF65-F5344CB8AC3E}">
        <p14:creationId xmlns:p14="http://schemas.microsoft.com/office/powerpoint/2010/main" val="2966085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2BDBC-EE90-EB96-E2C6-FE18A98635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EFC744-6818-A64B-0953-EF8C9B435D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CF1E8B-81D3-9BE5-644E-92ABA2414BEE}"/>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CC4B7E6B-B80F-81E0-8DCE-85E0382600B8}"/>
              </a:ext>
            </a:extLst>
          </p:cNvPr>
          <p:cNvSpPr>
            <a:spLocks noGrp="1"/>
          </p:cNvSpPr>
          <p:nvPr>
            <p:ph type="sldNum" sz="quarter" idx="5"/>
          </p:nvPr>
        </p:nvSpPr>
        <p:spPr/>
        <p:txBody>
          <a:bodyPr/>
          <a:lstStyle/>
          <a:p>
            <a:pPr rtl="0"/>
            <a:fld id="{4CBCEA92-F142-4D57-B507-37BDAF44710C}" type="slidenum">
              <a:rPr lang="es-ES" smtClean="0"/>
              <a:t>10</a:t>
            </a:fld>
            <a:endParaRPr lang="es-ES"/>
          </a:p>
        </p:txBody>
      </p:sp>
    </p:spTree>
    <p:extLst>
      <p:ext uri="{BB962C8B-B14F-4D97-AF65-F5344CB8AC3E}">
        <p14:creationId xmlns:p14="http://schemas.microsoft.com/office/powerpoint/2010/main" val="106143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5EF23-38B8-E47C-1153-832C1F77BA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79E5F8-BD33-F40F-6808-C7734D62A2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2560821-432E-7572-D4C4-C07CDE08BFF1}"/>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AA4D0B12-0C7B-A1ED-FBBC-C0A89D6F74E6}"/>
              </a:ext>
            </a:extLst>
          </p:cNvPr>
          <p:cNvSpPr>
            <a:spLocks noGrp="1"/>
          </p:cNvSpPr>
          <p:nvPr>
            <p:ph type="sldNum" sz="quarter" idx="5"/>
          </p:nvPr>
        </p:nvSpPr>
        <p:spPr/>
        <p:txBody>
          <a:bodyPr/>
          <a:lstStyle/>
          <a:p>
            <a:pPr rtl="0"/>
            <a:fld id="{4CBCEA92-F142-4D57-B507-37BDAF44710C}" type="slidenum">
              <a:rPr lang="es-ES" smtClean="0"/>
              <a:t>11</a:t>
            </a:fld>
            <a:endParaRPr lang="es-ES"/>
          </a:p>
        </p:txBody>
      </p:sp>
    </p:spTree>
    <p:extLst>
      <p:ext uri="{BB962C8B-B14F-4D97-AF65-F5344CB8AC3E}">
        <p14:creationId xmlns:p14="http://schemas.microsoft.com/office/powerpoint/2010/main" val="3312387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02642-5D5E-DDF4-BA7C-FC96AFEE0A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F1EBA9-937D-87A9-6B55-FEAA031D42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32FA5F8-275C-4DB8-5A6D-5B7796E2E5F6}"/>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1005EB5C-CA03-0DBE-A8E3-65C0347AA106}"/>
              </a:ext>
            </a:extLst>
          </p:cNvPr>
          <p:cNvSpPr>
            <a:spLocks noGrp="1"/>
          </p:cNvSpPr>
          <p:nvPr>
            <p:ph type="sldNum" sz="quarter" idx="5"/>
          </p:nvPr>
        </p:nvSpPr>
        <p:spPr/>
        <p:txBody>
          <a:bodyPr/>
          <a:lstStyle/>
          <a:p>
            <a:pPr rtl="0"/>
            <a:fld id="{4CBCEA92-F142-4D57-B507-37BDAF44710C}" type="slidenum">
              <a:rPr lang="es-ES" smtClean="0"/>
              <a:t>13</a:t>
            </a:fld>
            <a:endParaRPr lang="es-ES"/>
          </a:p>
        </p:txBody>
      </p:sp>
    </p:spTree>
    <p:extLst>
      <p:ext uri="{BB962C8B-B14F-4D97-AF65-F5344CB8AC3E}">
        <p14:creationId xmlns:p14="http://schemas.microsoft.com/office/powerpoint/2010/main" val="376036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EB369-E8D7-EC72-0ECF-4D509625A3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9FFCCA-B79A-EF0B-4BDE-728EF5E54B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085369B-B73C-735E-6630-933E43A4777E}"/>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CC38783D-0C88-3620-B329-207D92AB9D86}"/>
              </a:ext>
            </a:extLst>
          </p:cNvPr>
          <p:cNvSpPr>
            <a:spLocks noGrp="1"/>
          </p:cNvSpPr>
          <p:nvPr>
            <p:ph type="sldNum" sz="quarter" idx="5"/>
          </p:nvPr>
        </p:nvSpPr>
        <p:spPr/>
        <p:txBody>
          <a:bodyPr/>
          <a:lstStyle/>
          <a:p>
            <a:pPr rtl="0"/>
            <a:fld id="{4CBCEA92-F142-4D57-B507-37BDAF44710C}" type="slidenum">
              <a:rPr lang="es-ES" smtClean="0"/>
              <a:t>14</a:t>
            </a:fld>
            <a:endParaRPr lang="es-ES"/>
          </a:p>
        </p:txBody>
      </p:sp>
    </p:spTree>
    <p:extLst>
      <p:ext uri="{BB962C8B-B14F-4D97-AF65-F5344CB8AC3E}">
        <p14:creationId xmlns:p14="http://schemas.microsoft.com/office/powerpoint/2010/main" val="1007345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8809E-9ED7-AFA2-E0AD-A1B5EB287E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D47F79-0013-C2EB-9A58-BA0F49EBAED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1B070C-4483-9D16-A3C0-C88A6F0EBF69}"/>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768EDFA1-48C0-B388-DF5B-231D20186FF2}"/>
              </a:ext>
            </a:extLst>
          </p:cNvPr>
          <p:cNvSpPr>
            <a:spLocks noGrp="1"/>
          </p:cNvSpPr>
          <p:nvPr>
            <p:ph type="sldNum" sz="quarter" idx="5"/>
          </p:nvPr>
        </p:nvSpPr>
        <p:spPr/>
        <p:txBody>
          <a:bodyPr/>
          <a:lstStyle/>
          <a:p>
            <a:pPr rtl="0"/>
            <a:fld id="{4CBCEA92-F142-4D57-B507-37BDAF44710C}" type="slidenum">
              <a:rPr lang="es-ES" smtClean="0"/>
              <a:t>15</a:t>
            </a:fld>
            <a:endParaRPr lang="es-ES"/>
          </a:p>
        </p:txBody>
      </p:sp>
    </p:spTree>
    <p:extLst>
      <p:ext uri="{BB962C8B-B14F-4D97-AF65-F5344CB8AC3E}">
        <p14:creationId xmlns:p14="http://schemas.microsoft.com/office/powerpoint/2010/main" val="2642662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3DD79-CD6C-891B-ADFA-98638F89E2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3E4930-CBC2-C2DF-8B6B-AA1743636D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6CE20C-8601-D360-8CD3-304AB163A1BB}"/>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23AD3F78-70A6-E949-3DEC-2CBDBD00B38A}"/>
              </a:ext>
            </a:extLst>
          </p:cNvPr>
          <p:cNvSpPr>
            <a:spLocks noGrp="1"/>
          </p:cNvSpPr>
          <p:nvPr>
            <p:ph type="sldNum" sz="quarter" idx="5"/>
          </p:nvPr>
        </p:nvSpPr>
        <p:spPr/>
        <p:txBody>
          <a:bodyPr/>
          <a:lstStyle/>
          <a:p>
            <a:pPr rtl="0"/>
            <a:fld id="{4CBCEA92-F142-4D57-B507-37BDAF44710C}" type="slidenum">
              <a:rPr lang="es-ES" smtClean="0"/>
              <a:t>16</a:t>
            </a:fld>
            <a:endParaRPr lang="es-ES"/>
          </a:p>
        </p:txBody>
      </p:sp>
    </p:spTree>
    <p:extLst>
      <p:ext uri="{BB962C8B-B14F-4D97-AF65-F5344CB8AC3E}">
        <p14:creationId xmlns:p14="http://schemas.microsoft.com/office/powerpoint/2010/main" val="114924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694DD-2254-742F-9709-A44C6F6650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E2844F3-3B2F-BA65-7B83-C77867406D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DF9376-A1C4-08A5-7636-930AF5209D22}"/>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8B6FB292-C2DE-6864-5A74-BB064F216AB7}"/>
              </a:ext>
            </a:extLst>
          </p:cNvPr>
          <p:cNvSpPr>
            <a:spLocks noGrp="1"/>
          </p:cNvSpPr>
          <p:nvPr>
            <p:ph type="sldNum" sz="quarter" idx="5"/>
          </p:nvPr>
        </p:nvSpPr>
        <p:spPr/>
        <p:txBody>
          <a:bodyPr/>
          <a:lstStyle/>
          <a:p>
            <a:pPr rtl="0"/>
            <a:fld id="{4CBCEA92-F142-4D57-B507-37BDAF44710C}" type="slidenum">
              <a:rPr lang="es-ES" smtClean="0"/>
              <a:t>17</a:t>
            </a:fld>
            <a:endParaRPr lang="es-ES"/>
          </a:p>
        </p:txBody>
      </p:sp>
    </p:spTree>
    <p:extLst>
      <p:ext uri="{BB962C8B-B14F-4D97-AF65-F5344CB8AC3E}">
        <p14:creationId xmlns:p14="http://schemas.microsoft.com/office/powerpoint/2010/main" val="4208591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F2A42-2010-365E-A990-C40C2F56EA4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CD3369-09C8-ADDD-B1CF-692DA1842F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EE8D55-B08F-F767-1C7D-E736E9AE474E}"/>
              </a:ext>
            </a:extLst>
          </p:cNvPr>
          <p:cNvSpPr>
            <a:spLocks noGrp="1"/>
          </p:cNvSpPr>
          <p:nvPr>
            <p:ph type="body" idx="1"/>
          </p:nvPr>
        </p:nvSpPr>
        <p:spPr/>
        <p:txBody>
          <a:bodyPr/>
          <a:lstStyle/>
          <a:p>
            <a:endParaRPr lang="es-ES" noProof="0" dirty="0"/>
          </a:p>
        </p:txBody>
      </p:sp>
      <p:sp>
        <p:nvSpPr>
          <p:cNvPr id="4" name="Marcador de número de diapositiva 3">
            <a:extLst>
              <a:ext uri="{FF2B5EF4-FFF2-40B4-BE49-F238E27FC236}">
                <a16:creationId xmlns:a16="http://schemas.microsoft.com/office/drawing/2014/main" id="{88511F3D-0DB4-2AF6-8A30-3ED0E4BA4691}"/>
              </a:ext>
            </a:extLst>
          </p:cNvPr>
          <p:cNvSpPr>
            <a:spLocks noGrp="1"/>
          </p:cNvSpPr>
          <p:nvPr>
            <p:ph type="sldNum" sz="quarter" idx="5"/>
          </p:nvPr>
        </p:nvSpPr>
        <p:spPr/>
        <p:txBody>
          <a:bodyPr/>
          <a:lstStyle/>
          <a:p>
            <a:pPr rtl="0"/>
            <a:fld id="{4CBCEA92-F142-4D57-B507-37BDAF44710C}" type="slidenum">
              <a:rPr lang="es-ES" smtClean="0"/>
              <a:t>18</a:t>
            </a:fld>
            <a:endParaRPr lang="es-ES"/>
          </a:p>
        </p:txBody>
      </p:sp>
    </p:spTree>
    <p:extLst>
      <p:ext uri="{BB962C8B-B14F-4D97-AF65-F5344CB8AC3E}">
        <p14:creationId xmlns:p14="http://schemas.microsoft.com/office/powerpoint/2010/main" val="964622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www.nealanalytics.com/templates/"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nealanalytics.com/templates/"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BLANK: sin barra superior">
    <p:bg>
      <p:bgRef idx="1001">
        <a:schemeClr val="bg2"/>
      </p:bgRef>
    </p:bg>
    <p:spTree>
      <p:nvGrpSpPr>
        <p:cNvPr id="1" name=""/>
        <p:cNvGrpSpPr/>
        <p:nvPr/>
      </p:nvGrpSpPr>
      <p:grpSpPr>
        <a:xfrm>
          <a:off x="0" y="0"/>
          <a:ext cx="0" cy="0"/>
          <a:chOff x="0" y="0"/>
          <a:chExt cx="0" cy="0"/>
        </a:xfrm>
      </p:grpSpPr>
      <p:sp>
        <p:nvSpPr>
          <p:cNvPr id="3" name="Rectángulo 2"/>
          <p:cNvSpPr/>
          <p:nvPr userDrawn="1"/>
        </p:nvSpPr>
        <p:spPr>
          <a:xfrm>
            <a:off x="0" y="0"/>
            <a:ext cx="12192000" cy="1225485"/>
          </a:xfrm>
          <a:prstGeom prst="rect">
            <a:avLst/>
          </a:prstGeom>
          <a:solidFill>
            <a:srgbClr val="0074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130806366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 Título">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A73233B-0705-4E94-AE39-0FCF7FAB80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6" name="Marcador de número de diapositiva 5"/>
          <p:cNvSpPr>
            <a:spLocks noGrp="1"/>
          </p:cNvSpPr>
          <p:nvPr>
            <p:ph type="sldNum" sz="quarter" idx="12"/>
          </p:nvPr>
        </p:nvSpPr>
        <p:spPr/>
        <p:txBody>
          <a:bodyPr rtlCol="0"/>
          <a:lstStyle/>
          <a:p>
            <a:pPr rtl="0"/>
            <a:fld id="{5AE1514C-5E56-4738-A1FF-4B1CFD2A3E36}" type="slidenum">
              <a:rPr lang="es-ES" noProof="0" smtClean="0"/>
              <a:t>‹Nº›</a:t>
            </a:fld>
            <a:endParaRPr lang="es-ES" noProof="0"/>
          </a:p>
        </p:txBody>
      </p:sp>
      <p:sp>
        <p:nvSpPr>
          <p:cNvPr id="9" name="Cuadro de texto 8">
            <a:hlinkClick r:id="rId3"/>
            <a:extLst>
              <a:ext uri="{FF2B5EF4-FFF2-40B4-BE49-F238E27FC236}">
                <a16:creationId xmlns:a16="http://schemas.microsoft.com/office/drawing/2014/main" id="{011B0CED-3A92-43B0-A3DE-C37B6408D9DB}"/>
              </a:ext>
            </a:extLst>
          </p:cNvPr>
          <p:cNvSpPr txBox="1"/>
          <p:nvPr userDrawn="1"/>
        </p:nvSpPr>
        <p:spPr>
          <a:xfrm>
            <a:off x="329642" y="4267687"/>
            <a:ext cx="3175558" cy="329343"/>
          </a:xfrm>
          <a:prstGeom prst="roundRect">
            <a:avLst>
              <a:gd name="adj" fmla="val 50000"/>
            </a:avLst>
          </a:prstGeom>
          <a:solidFill>
            <a:srgbClr val="00B0F0"/>
          </a:solidFill>
          <a:ln w="19050">
            <a:solidFill>
              <a:schemeClr val="tx1"/>
            </a:solidFill>
          </a:ln>
        </p:spPr>
        <p:txBody>
          <a:bodyPr wrap="square" lIns="0" r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0" i="0" u="none" strike="noStrike" kern="0" cap="none" spc="0" normalizeH="0" noProof="0" dirty="0">
                <a:ln>
                  <a:noFill/>
                </a:ln>
                <a:effectLst/>
                <a:uLnTx/>
                <a:uFillTx/>
              </a:rPr>
              <a:t>Neal Creative  | haga clic y obtenga</a:t>
            </a:r>
            <a:r>
              <a:rPr lang="es-ES" sz="1000" b="1" i="0" u="none" strike="noStrike" kern="0" cap="none" spc="0" normalizeH="0" noProof="0" dirty="0">
                <a:ln>
                  <a:noFill/>
                </a:ln>
                <a:effectLst/>
                <a:uLnTx/>
                <a:uFillTx/>
              </a:rPr>
              <a:t> más información</a:t>
            </a:r>
          </a:p>
        </p:txBody>
      </p:sp>
      <p:sp>
        <p:nvSpPr>
          <p:cNvPr id="10" name="Cuadro de texto 9">
            <a:extLst>
              <a:ext uri="{FF2B5EF4-FFF2-40B4-BE49-F238E27FC236}">
                <a16:creationId xmlns:a16="http://schemas.microsoft.com/office/drawing/2014/main" id="{0BEF3013-858C-4FFF-B19A-1F10A879C4E8}"/>
              </a:ext>
            </a:extLst>
          </p:cNvPr>
          <p:cNvSpPr txBox="1"/>
          <p:nvPr userDrawn="1"/>
        </p:nvSpPr>
        <p:spPr>
          <a:xfrm>
            <a:off x="177800" y="6435060"/>
            <a:ext cx="1050288" cy="246221"/>
          </a:xfrm>
          <a:prstGeom prst="rect">
            <a:avLst/>
          </a:prstGeom>
          <a:noFill/>
        </p:spPr>
        <p:txBody>
          <a:bodyPr wrap="none" rtlCol="0">
            <a:spAutoFit/>
          </a:bodyPr>
          <a:lstStyle/>
          <a:p>
            <a:pPr rtl="0"/>
            <a:r>
              <a:rPr lang="es-ES" sz="1000" noProof="0">
                <a:solidFill>
                  <a:schemeClr val="bg1">
                    <a:lumMod val="75000"/>
                  </a:schemeClr>
                </a:solidFill>
              </a:rPr>
              <a:t>Neal Creative </a:t>
            </a:r>
            <a:r>
              <a:rPr lang="es-ES" sz="1000" baseline="30000" noProof="0">
                <a:solidFill>
                  <a:schemeClr val="bg1">
                    <a:lumMod val="75000"/>
                  </a:schemeClr>
                </a:solidFill>
              </a:rPr>
              <a:t>©</a:t>
            </a:r>
          </a:p>
        </p:txBody>
      </p:sp>
    </p:spTree>
    <p:extLst>
      <p:ext uri="{BB962C8B-B14F-4D97-AF65-F5344CB8AC3E}">
        <p14:creationId xmlns:p14="http://schemas.microsoft.com/office/powerpoint/2010/main" val="2221538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rtlCol="0"/>
          <a:lstStyle/>
          <a:p>
            <a:pPr rtl="0"/>
            <a:fld id="{5AE1514C-5E56-4738-A1FF-4B1CFD2A3E36}" type="slidenum">
              <a:rPr lang="es-ES" noProof="0" smtClean="0"/>
              <a:t>‹Nº›</a:t>
            </a:fld>
            <a:endParaRPr lang="es-ES" noProof="0"/>
          </a:p>
        </p:txBody>
      </p:sp>
      <p:sp>
        <p:nvSpPr>
          <p:cNvPr id="5" name="Rectángulo 4"/>
          <p:cNvSpPr/>
          <p:nvPr userDrawn="1"/>
        </p:nvSpPr>
        <p:spPr>
          <a:xfrm>
            <a:off x="0" y="0"/>
            <a:ext cx="12192000" cy="11480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327574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olo el título">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CEEE197-7B3D-420C-8D35-83CAE6B36171}"/>
              </a:ext>
            </a:extLst>
          </p:cNvPr>
          <p:cNvSpPr>
            <a:spLocks noGrp="1"/>
          </p:cNvSpPr>
          <p:nvPr>
            <p:ph type="title" hasCustomPrompt="1"/>
          </p:nvPr>
        </p:nvSpPr>
        <p:spPr>
          <a:solidFill>
            <a:schemeClr val="bg1">
              <a:lumMod val="95000"/>
            </a:schemeClr>
          </a:solidFill>
        </p:spPr>
        <p:txBody>
          <a:bodyPr vert="horz" lIns="457200" tIns="45720" rIns="457200" bIns="45720" rtlCol="0" anchor="ctr">
            <a:noAutofit/>
          </a:bodyPr>
          <a:lstStyle>
            <a:lvl1pPr>
              <a:defRPr lang="en-US" sz="3400" spc="160" baseline="0" dirty="0"/>
            </a:lvl1pPr>
          </a:lstStyle>
          <a:p>
            <a:pPr lvl="0" rtl="0"/>
            <a:r>
              <a:rPr lang="es-ES" noProof="0"/>
              <a:t>HAGA CLIC PARA MODIFICAR EL ESTILO DEL TÍTULO DEL PATRÓN</a:t>
            </a:r>
          </a:p>
        </p:txBody>
      </p:sp>
    </p:spTree>
    <p:extLst>
      <p:ext uri="{BB962C8B-B14F-4D97-AF65-F5344CB8AC3E}">
        <p14:creationId xmlns:p14="http://schemas.microsoft.com/office/powerpoint/2010/main" val="206254376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sin barra superior">
    <p:spTree>
      <p:nvGrpSpPr>
        <p:cNvPr id="1" name=""/>
        <p:cNvGrpSpPr/>
        <p:nvPr/>
      </p:nvGrpSpPr>
      <p:grpSpPr>
        <a:xfrm>
          <a:off x="0" y="0"/>
          <a:ext cx="0" cy="0"/>
          <a:chOff x="0" y="0"/>
          <a:chExt cx="0" cy="0"/>
        </a:xfrm>
      </p:grpSpPr>
      <p:sp>
        <p:nvSpPr>
          <p:cNvPr id="3" name="Rectángulo 2"/>
          <p:cNvSpPr/>
          <p:nvPr userDrawn="1"/>
        </p:nvSpPr>
        <p:spPr>
          <a:xfrm>
            <a:off x="0" y="0"/>
            <a:ext cx="12192000" cy="122548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Cuadro de texto 3">
            <a:hlinkClick r:id="rId2"/>
          </p:cNvPr>
          <p:cNvSpPr txBox="1"/>
          <p:nvPr userDrawn="1"/>
        </p:nvSpPr>
        <p:spPr>
          <a:xfrm>
            <a:off x="9524236" y="6316156"/>
            <a:ext cx="2426464" cy="367873"/>
          </a:xfrm>
          <a:prstGeom prst="roundRect">
            <a:avLst>
              <a:gd name="adj" fmla="val 50000"/>
            </a:avLst>
          </a:prstGeom>
          <a:solidFill>
            <a:schemeClr val="tx2"/>
          </a:solidFill>
        </p:spPr>
        <p:txBody>
          <a:bodyPr wrap="square" rtlCol="0">
            <a:spAutoFit/>
          </a:bodyPr>
          <a:lstStyle/>
          <a:p>
            <a:pPr algn="ctr" rtl="0"/>
            <a:r>
              <a:rPr lang="es-ES" sz="1100" noProof="0">
                <a:solidFill>
                  <a:schemeClr val="bg1"/>
                </a:solidFill>
              </a:rPr>
              <a:t>Neal Creative | </a:t>
            </a:r>
            <a:r>
              <a:rPr lang="es-ES" sz="1100" b="1" noProof="0">
                <a:solidFill>
                  <a:schemeClr val="bg1"/>
                </a:solidFill>
              </a:rPr>
              <a:t>Más información</a:t>
            </a:r>
          </a:p>
        </p:txBody>
      </p:sp>
      <p:sp>
        <p:nvSpPr>
          <p:cNvPr id="5" name="Cuadro de texto 4">
            <a:extLst>
              <a:ext uri="{FF2B5EF4-FFF2-40B4-BE49-F238E27FC236}">
                <a16:creationId xmlns:a16="http://schemas.microsoft.com/office/drawing/2014/main" id="{FB34A05A-4AD6-4BC6-B6EA-314331190DB2}"/>
              </a:ext>
            </a:extLst>
          </p:cNvPr>
          <p:cNvSpPr txBox="1"/>
          <p:nvPr userDrawn="1"/>
        </p:nvSpPr>
        <p:spPr>
          <a:xfrm>
            <a:off x="177800" y="6435060"/>
            <a:ext cx="1050288" cy="246221"/>
          </a:xfrm>
          <a:prstGeom prst="rect">
            <a:avLst/>
          </a:prstGeom>
          <a:noFill/>
        </p:spPr>
        <p:txBody>
          <a:bodyPr wrap="none" rtlCol="0">
            <a:spAutoFit/>
          </a:bodyPr>
          <a:lstStyle/>
          <a:p>
            <a:pPr rtl="0"/>
            <a:r>
              <a:rPr lang="es-ES" sz="1000" noProof="0">
                <a:solidFill>
                  <a:schemeClr val="bg1">
                    <a:lumMod val="75000"/>
                  </a:schemeClr>
                </a:solidFill>
              </a:rPr>
              <a:t>Neal Creative </a:t>
            </a:r>
            <a:r>
              <a:rPr lang="es-ES" sz="1000" baseline="30000" noProof="0">
                <a:solidFill>
                  <a:schemeClr val="bg1">
                    <a:lumMod val="75000"/>
                  </a:schemeClr>
                </a:solidFill>
              </a:rPr>
              <a:t>©</a:t>
            </a:r>
          </a:p>
        </p:txBody>
      </p:sp>
    </p:spTree>
    <p:extLst>
      <p:ext uri="{BB962C8B-B14F-4D97-AF65-F5344CB8AC3E}">
        <p14:creationId xmlns:p14="http://schemas.microsoft.com/office/powerpoint/2010/main" val="322627904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ángulo 7"/>
          <p:cNvSpPr/>
          <p:nvPr userDrawn="1"/>
        </p:nvSpPr>
        <p:spPr>
          <a:xfrm>
            <a:off x="0" y="0"/>
            <a:ext cx="12192000" cy="1050758"/>
          </a:xfrm>
          <a:prstGeom prst="rect">
            <a:avLst/>
          </a:prstGeom>
        </p:spPr>
        <p:txBody>
          <a:bodyPr vert="horz" lIns="457200" tIns="45720" rIns="457200" bIns="45720" rtlCol="0" anchor="ctr">
            <a:noAutofit/>
          </a:bodyPr>
          <a:lstStyle/>
          <a:p>
            <a:pPr lvl="0" algn="ctr" rtl="0">
              <a:lnSpc>
                <a:spcPct val="90000"/>
              </a:lnSpc>
              <a:spcBef>
                <a:spcPct val="0"/>
              </a:spcBef>
              <a:buNone/>
              <a:tabLst>
                <a:tab pos="10579100" algn="l"/>
              </a:tabLst>
            </a:pPr>
            <a:endParaRPr lang="es-ES" sz="3400" b="0" i="0" spc="160" baseline="0" noProof="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endParaRPr>
          </a:p>
        </p:txBody>
      </p:sp>
      <p:sp>
        <p:nvSpPr>
          <p:cNvPr id="2" name="Marcador de título 1"/>
          <p:cNvSpPr>
            <a:spLocks noGrp="1"/>
          </p:cNvSpPr>
          <p:nvPr>
            <p:ph type="title"/>
          </p:nvPr>
        </p:nvSpPr>
        <p:spPr>
          <a:xfrm>
            <a:off x="0" y="0"/>
            <a:ext cx="12192000" cy="1050758"/>
          </a:xfrm>
          <a:prstGeom prst="rect">
            <a:avLst/>
          </a:prstGeom>
        </p:spPr>
        <p:txBody>
          <a:bodyPr vert="horz" lIns="457200" tIns="45720" rIns="457200" bIns="45720" rtlCol="0" anchor="ctr">
            <a:noAutofit/>
          </a:bodyPr>
          <a:lstStyle/>
          <a:p>
            <a:pPr lvl="0" algn="ctr" defTabSz="914400" rtl="0" eaLnBrk="1" latinLnBrk="0" hangingPunct="1">
              <a:lnSpc>
                <a:spcPct val="90000"/>
              </a:lnSpc>
              <a:spcBef>
                <a:spcPct val="0"/>
              </a:spcBef>
              <a:buNone/>
              <a:tabLst>
                <a:tab pos="10579100" algn="l"/>
              </a:tabLst>
            </a:pPr>
            <a:r>
              <a:rPr lang="es-ES" noProof="0"/>
              <a:t>Haga clic para modificar el estilo de título del patrón</a:t>
            </a:r>
          </a:p>
        </p:txBody>
      </p:sp>
      <p:sp>
        <p:nvSpPr>
          <p:cNvPr id="3" name="Marcador de texto 2"/>
          <p:cNvSpPr>
            <a:spLocks noGrp="1"/>
          </p:cNvSpPr>
          <p:nvPr>
            <p:ph type="body" idx="1"/>
          </p:nvPr>
        </p:nvSpPr>
        <p:spPr>
          <a:xfrm>
            <a:off x="0" y="1275347"/>
            <a:ext cx="12192000" cy="1949765"/>
          </a:xfrm>
          <a:prstGeom prst="rect">
            <a:avLst/>
          </a:prstGeom>
        </p:spPr>
        <p:txBody>
          <a:bodyPr vert="horz" lIns="457200" tIns="45720" rIns="457200" bIns="45720" rtlCol="0">
            <a:sp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número de diapositiva 5"/>
          <p:cNvSpPr>
            <a:spLocks noGrp="1"/>
          </p:cNvSpPr>
          <p:nvPr>
            <p:ph type="sldNum" sz="quarter" idx="4"/>
          </p:nvPr>
        </p:nvSpPr>
        <p:spPr>
          <a:xfrm>
            <a:off x="9188115" y="6316156"/>
            <a:ext cx="2743200" cy="365125"/>
          </a:xfrm>
          <a:prstGeom prst="rect">
            <a:avLst/>
          </a:prstGeom>
        </p:spPr>
        <p:txBody>
          <a:bodyPr vert="horz" lIns="91440" tIns="45720" rIns="91440" bIns="45720" rtlCol="0" anchor="ctr"/>
          <a:lstStyle>
            <a:lvl1pPr algn="r">
              <a:defRPr sz="1100">
                <a:solidFill>
                  <a:schemeClr val="tx2"/>
                </a:solidFill>
              </a:defRPr>
            </a:lvl1pPr>
          </a:lstStyle>
          <a:p>
            <a:pPr rtl="0"/>
            <a:fld id="{5AE1514C-5E56-4738-A1FF-4B1CFD2A3E36}" type="slidenum">
              <a:rPr lang="es-ES" noProof="0" smtClean="0"/>
              <a:pPr rtl="0"/>
              <a:t>‹Nº›</a:t>
            </a:fld>
            <a:endParaRPr lang="es-ES" noProof="0"/>
          </a:p>
        </p:txBody>
      </p:sp>
    </p:spTree>
    <p:extLst>
      <p:ext uri="{BB962C8B-B14F-4D97-AF65-F5344CB8AC3E}">
        <p14:creationId xmlns:p14="http://schemas.microsoft.com/office/powerpoint/2010/main" val="1071799329"/>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6" r:id="rId3"/>
    <p:sldLayoutId id="2147483677" r:id="rId4"/>
    <p:sldLayoutId id="2147483679" r:id="rId5"/>
  </p:sldLayoutIdLst>
  <p:hf hdr="0" dt="0"/>
  <p:txStyles>
    <p:title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lumMod val="85000"/>
              <a:lumOff val="15000"/>
            </a:schemeClr>
          </a:solidFill>
          <a:latin typeface="+mj-lt"/>
          <a:ea typeface="+mn-ea"/>
          <a:cs typeface="+mn-cs"/>
        </a:defRPr>
      </a:lvl1pPr>
      <a:lvl2pPr marL="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j-lt"/>
          <a:ea typeface="+mn-ea"/>
          <a:cs typeface="+mn-cs"/>
        </a:defRPr>
      </a:lvl2pPr>
      <a:lvl3pPr marL="0" indent="0" algn="ctr" defTabSz="914400" rtl="0" eaLnBrk="1" latinLnBrk="0" hangingPunct="1">
        <a:lnSpc>
          <a:spcPct val="90000"/>
        </a:lnSpc>
        <a:spcBef>
          <a:spcPts val="1200"/>
        </a:spcBef>
        <a:spcAft>
          <a:spcPts val="1200"/>
        </a:spcAft>
        <a:buFont typeface="Arial" panose="020B0604020202020204" pitchFamily="34" charset="0"/>
        <a:buNone/>
        <a:defRPr sz="2000" b="1" kern="1200">
          <a:solidFill>
            <a:schemeClr val="tx2"/>
          </a:solidFill>
          <a:latin typeface="+mn-lt"/>
          <a:ea typeface="+mn-ea"/>
          <a:cs typeface="+mn-cs"/>
        </a:defRPr>
      </a:lvl3pPr>
      <a:lvl4pPr marL="0" indent="0" algn="ctr" defTabSz="914400" rtl="0" eaLnBrk="1" latinLnBrk="0" hangingPunct="1">
        <a:lnSpc>
          <a:spcPct val="90000"/>
        </a:lnSpc>
        <a:spcBef>
          <a:spcPts val="500"/>
        </a:spcBef>
        <a:buFont typeface="Arial" panose="020B0604020202020204" pitchFamily="34" charset="0"/>
        <a:buNone/>
        <a:defRPr sz="1600" kern="1200">
          <a:solidFill>
            <a:schemeClr val="tx1">
              <a:lumMod val="85000"/>
              <a:lumOff val="15000"/>
            </a:schemeClr>
          </a:solidFill>
          <a:latin typeface="+mn-lt"/>
          <a:ea typeface="+mn-ea"/>
          <a:cs typeface="+mn-cs"/>
        </a:defRPr>
      </a:lvl4pPr>
      <a:lvl5pPr marL="0" indent="0" algn="ctr" defTabSz="914400" rtl="0" eaLnBrk="1" latinLnBrk="0" hangingPunct="1">
        <a:lnSpc>
          <a:spcPct val="90000"/>
        </a:lnSpc>
        <a:spcBef>
          <a:spcPts val="500"/>
        </a:spcBef>
        <a:spcAft>
          <a:spcPts val="1200"/>
        </a:spcAft>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DC45298E-18BC-60AF-9B07-2BD250AB3191}"/>
              </a:ext>
            </a:extLst>
          </p:cNvPr>
          <p:cNvSpPr/>
          <p:nvPr/>
        </p:nvSpPr>
        <p:spPr>
          <a:xfrm>
            <a:off x="0" y="4555222"/>
            <a:ext cx="12192000" cy="2302778"/>
          </a:xfrm>
          <a:prstGeom prst="rect">
            <a:avLst/>
          </a:prstGeom>
          <a:solidFill>
            <a:srgbClr val="F2E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solidFill>
                <a:srgbClr val="F2E6FA"/>
              </a:solidFill>
            </a:endParaRPr>
          </a:p>
        </p:txBody>
      </p:sp>
      <p:sp>
        <p:nvSpPr>
          <p:cNvPr id="2" name="Marcador de número de diapositiva 1">
            <a:extLst>
              <a:ext uri="{FF2B5EF4-FFF2-40B4-BE49-F238E27FC236}">
                <a16:creationId xmlns:a16="http://schemas.microsoft.com/office/drawing/2014/main" id="{4888FF20-B131-B23D-93FB-865495828125}"/>
              </a:ext>
            </a:extLst>
          </p:cNvPr>
          <p:cNvSpPr>
            <a:spLocks noGrp="1"/>
          </p:cNvSpPr>
          <p:nvPr>
            <p:ph type="sldNum" sz="quarter" idx="12"/>
          </p:nvPr>
        </p:nvSpPr>
        <p:spPr>
          <a:xfrm>
            <a:off x="9188115" y="6316156"/>
            <a:ext cx="2743200" cy="365125"/>
          </a:xfrm>
        </p:spPr>
        <p:txBody>
          <a:bodyPr anchor="ctr">
            <a:normAutofit/>
          </a:bodyPr>
          <a:lstStyle/>
          <a:p>
            <a:pPr rtl="0">
              <a:spcAft>
                <a:spcPts val="600"/>
              </a:spcAft>
            </a:pPr>
            <a:fld id="{5AE1514C-5E56-4738-A1FF-4B1CFD2A3E36}" type="slidenum">
              <a:rPr lang="es-ES" noProof="0" smtClean="0">
                <a:solidFill>
                  <a:schemeClr val="bg1">
                    <a:lumMod val="85000"/>
                  </a:schemeClr>
                </a:solidFill>
              </a:rPr>
              <a:pPr rtl="0">
                <a:spcAft>
                  <a:spcPts val="600"/>
                </a:spcAft>
              </a:pPr>
              <a:t>1</a:t>
            </a:fld>
            <a:endParaRPr lang="es-ES" noProof="0" dirty="0">
              <a:solidFill>
                <a:schemeClr val="bg1">
                  <a:lumMod val="85000"/>
                </a:schemeClr>
              </a:solidFill>
            </a:endParaRPr>
          </a:p>
        </p:txBody>
      </p:sp>
      <p:sp>
        <p:nvSpPr>
          <p:cNvPr id="7" name="Cuadro de texto 1">
            <a:extLst>
              <a:ext uri="{FF2B5EF4-FFF2-40B4-BE49-F238E27FC236}">
                <a16:creationId xmlns:a16="http://schemas.microsoft.com/office/drawing/2014/main" id="{7EC4AE1F-8D15-EADF-65D6-E3824FAB69A1}"/>
              </a:ext>
            </a:extLst>
          </p:cNvPr>
          <p:cNvSpPr txBox="1"/>
          <p:nvPr/>
        </p:nvSpPr>
        <p:spPr>
          <a:xfrm>
            <a:off x="790406" y="2494508"/>
            <a:ext cx="10611187" cy="981807"/>
          </a:xfrm>
          <a:prstGeom prst="rect">
            <a:avLst/>
          </a:prstGeom>
          <a:noFill/>
        </p:spPr>
        <p:txBody>
          <a:bodyPr wrap="squar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lang="es-ES" sz="4000" b="1" i="0" u="none" strike="noStrike" kern="1200" cap="none" spc="-20" normalizeH="0" dirty="0">
                <a:ln>
                  <a:noFill/>
                </a:ln>
                <a:solidFill>
                  <a:srgbClr val="D50D97"/>
                </a:solidFill>
                <a:effectLst/>
                <a:uLnTx/>
                <a:uFillTx/>
                <a:latin typeface="Segoe UI"/>
                <a:ea typeface="+mn-ea"/>
                <a:cs typeface="+mn-cs"/>
              </a:rPr>
              <a:t>Resultados Prueba Técnica</a:t>
            </a:r>
          </a:p>
          <a:p>
            <a:pPr marL="0" marR="0" lvl="0" indent="0" algn="ctr" defTabSz="914400" rtl="0" eaLnBrk="1" fontAlgn="auto" latinLnBrk="0" hangingPunct="1">
              <a:lnSpc>
                <a:spcPct val="85000"/>
              </a:lnSpc>
              <a:spcBef>
                <a:spcPts val="0"/>
              </a:spcBef>
              <a:spcAft>
                <a:spcPts val="0"/>
              </a:spcAft>
              <a:buClrTx/>
              <a:buSzTx/>
              <a:buFontTx/>
              <a:buNone/>
              <a:tabLst/>
              <a:defRPr/>
            </a:pPr>
            <a:r>
              <a:rPr lang="es-ES" sz="2800" b="1" i="0" u="none" strike="noStrike" kern="1200" cap="none" spc="-20" normalizeH="0" dirty="0">
                <a:ln>
                  <a:noFill/>
                </a:ln>
                <a:solidFill>
                  <a:srgbClr val="D50D97"/>
                </a:solidFill>
                <a:effectLst/>
                <a:uLnTx/>
                <a:uFillTx/>
                <a:latin typeface="Segoe UI"/>
                <a:ea typeface="+mn-ea"/>
                <a:cs typeface="+mn-cs"/>
              </a:rPr>
              <a:t>Científico de Datos de </a:t>
            </a:r>
            <a:r>
              <a:rPr lang="es-ES" sz="2800" b="1" i="0" u="none" strike="noStrike" kern="1200" cap="none" spc="-20" normalizeH="0" dirty="0" err="1">
                <a:ln>
                  <a:noFill/>
                </a:ln>
                <a:solidFill>
                  <a:srgbClr val="D50D97"/>
                </a:solidFill>
                <a:effectLst/>
                <a:uLnTx/>
                <a:uFillTx/>
                <a:latin typeface="Segoe UI"/>
                <a:ea typeface="+mn-ea"/>
                <a:cs typeface="+mn-cs"/>
              </a:rPr>
              <a:t>Compliance</a:t>
            </a:r>
            <a:r>
              <a:rPr lang="es-ES" sz="2800" b="1" i="0" u="none" strike="noStrike" kern="1200" cap="none" spc="-20" normalizeH="0" dirty="0">
                <a:ln>
                  <a:noFill/>
                </a:ln>
                <a:solidFill>
                  <a:srgbClr val="D50D97"/>
                </a:solidFill>
                <a:effectLst/>
                <a:uLnTx/>
                <a:uFillTx/>
                <a:latin typeface="Segoe UI"/>
                <a:ea typeface="+mn-ea"/>
                <a:cs typeface="+mn-cs"/>
              </a:rPr>
              <a:t> y Riesgos</a:t>
            </a:r>
          </a:p>
        </p:txBody>
      </p:sp>
      <p:sp>
        <p:nvSpPr>
          <p:cNvPr id="11" name="Rectángulo 10">
            <a:extLst>
              <a:ext uri="{FF2B5EF4-FFF2-40B4-BE49-F238E27FC236}">
                <a16:creationId xmlns:a16="http://schemas.microsoft.com/office/drawing/2014/main" id="{082BC97E-E471-B157-1698-DF8ADE25AA21}"/>
              </a:ext>
            </a:extLst>
          </p:cNvPr>
          <p:cNvSpPr/>
          <p:nvPr/>
        </p:nvSpPr>
        <p:spPr>
          <a:xfrm>
            <a:off x="7199964" y="367258"/>
            <a:ext cx="4484035" cy="599639"/>
          </a:xfrm>
          <a:prstGeom prst="rect">
            <a:avLst/>
          </a:prstGeom>
          <a:solidFill>
            <a:srgbClr val="F2E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11">
            <a:extLst>
              <a:ext uri="{FF2B5EF4-FFF2-40B4-BE49-F238E27FC236}">
                <a16:creationId xmlns:a16="http://schemas.microsoft.com/office/drawing/2014/main" id="{B422CDDE-D38F-5983-4DB5-4B250A04D441}"/>
              </a:ext>
            </a:extLst>
          </p:cNvPr>
          <p:cNvSpPr/>
          <p:nvPr/>
        </p:nvSpPr>
        <p:spPr>
          <a:xfrm>
            <a:off x="7447280" y="519776"/>
            <a:ext cx="4484035" cy="792557"/>
          </a:xfrm>
          <a:prstGeom prst="rect">
            <a:avLst/>
          </a:prstGeom>
          <a:solidFill>
            <a:srgbClr val="E6CE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CuadroTexto 9">
            <a:extLst>
              <a:ext uri="{FF2B5EF4-FFF2-40B4-BE49-F238E27FC236}">
                <a16:creationId xmlns:a16="http://schemas.microsoft.com/office/drawing/2014/main" id="{F3707B70-8ED3-F26B-FCEC-D9277368FE0E}"/>
              </a:ext>
            </a:extLst>
          </p:cNvPr>
          <p:cNvSpPr txBox="1"/>
          <p:nvPr/>
        </p:nvSpPr>
        <p:spPr>
          <a:xfrm>
            <a:off x="7504897" y="584309"/>
            <a:ext cx="43688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i="1" u="none" strike="noStrike" kern="1200" cap="none" spc="0" normalizeH="0" dirty="0">
                <a:ln>
                  <a:noFill/>
                </a:ln>
                <a:effectLst/>
                <a:uLnTx/>
                <a:uFillTx/>
                <a:latin typeface="Segoe UI"/>
                <a:ea typeface="+mn-ea"/>
                <a:cs typeface="+mn-cs"/>
              </a:rPr>
              <a:t>“La analítica para la gestión integral de riesgos permite anticipar eventos críticos, optimizar decisiones y fortalecer la sostenibilidad del negocio”</a:t>
            </a:r>
          </a:p>
        </p:txBody>
      </p:sp>
      <p:sp>
        <p:nvSpPr>
          <p:cNvPr id="13" name="Cuadro de texto 1">
            <a:extLst>
              <a:ext uri="{FF2B5EF4-FFF2-40B4-BE49-F238E27FC236}">
                <a16:creationId xmlns:a16="http://schemas.microsoft.com/office/drawing/2014/main" id="{9B9B6C19-FD9D-9C8F-678F-DB650DBB9D95}"/>
              </a:ext>
            </a:extLst>
          </p:cNvPr>
          <p:cNvSpPr txBox="1"/>
          <p:nvPr/>
        </p:nvSpPr>
        <p:spPr>
          <a:xfrm>
            <a:off x="790405" y="6415445"/>
            <a:ext cx="10611187" cy="275460"/>
          </a:xfrm>
          <a:prstGeom prst="rect">
            <a:avLst/>
          </a:prstGeom>
          <a:noFill/>
        </p:spPr>
        <p:txBody>
          <a:bodyPr wrap="squar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lang="es-ES" sz="1400" b="1" i="0" u="none" strike="noStrike" kern="1200" cap="none" spc="-20" normalizeH="0" dirty="0">
                <a:ln>
                  <a:noFill/>
                </a:ln>
                <a:solidFill>
                  <a:srgbClr val="D50D97"/>
                </a:solidFill>
                <a:effectLst/>
                <a:uLnTx/>
                <a:uFillTx/>
                <a:latin typeface="Segoe UI"/>
                <a:ea typeface="+mn-ea"/>
                <a:cs typeface="+mn-cs"/>
              </a:rPr>
              <a:t>Jean Pierre Londoño González</a:t>
            </a:r>
          </a:p>
        </p:txBody>
      </p:sp>
      <p:pic>
        <p:nvPicPr>
          <p:cNvPr id="1026" name="Picture 2" descr="RECARGA NEQUI COLOMBIA">
            <a:extLst>
              <a:ext uri="{FF2B5EF4-FFF2-40B4-BE49-F238E27FC236}">
                <a16:creationId xmlns:a16="http://schemas.microsoft.com/office/drawing/2014/main" id="{DE403850-690C-2FA2-42D3-7A3F6AFC4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31287" cy="1431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342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FFCA511-2150-0661-5742-8D2C9CAB7792}"/>
              </a:ext>
            </a:extLst>
          </p:cNvPr>
          <p:cNvSpPr>
            <a:spLocks noGrp="1"/>
          </p:cNvSpPr>
          <p:nvPr>
            <p:ph type="sldNum" sz="quarter" idx="12"/>
          </p:nvPr>
        </p:nvSpPr>
        <p:spPr/>
        <p:txBody>
          <a:bodyPr/>
          <a:lstStyle/>
          <a:p>
            <a:pPr rtl="0"/>
            <a:fld id="{5AE1514C-5E56-4738-A1FF-4B1CFD2A3E36}" type="slidenum">
              <a:rPr lang="es-ES" noProof="0" smtClean="0"/>
              <a:t>2</a:t>
            </a:fld>
            <a:endParaRPr lang="es-ES" noProof="0"/>
          </a:p>
        </p:txBody>
      </p:sp>
      <p:sp>
        <p:nvSpPr>
          <p:cNvPr id="9" name="Rectángulo 8">
            <a:extLst>
              <a:ext uri="{FF2B5EF4-FFF2-40B4-BE49-F238E27FC236}">
                <a16:creationId xmlns:a16="http://schemas.microsoft.com/office/drawing/2014/main" id="{FA9EE949-3CA6-7F2A-CCB5-D1E34E5B91E8}"/>
              </a:ext>
            </a:extLst>
          </p:cNvPr>
          <p:cNvSpPr/>
          <p:nvPr/>
        </p:nvSpPr>
        <p:spPr>
          <a:xfrm>
            <a:off x="177623" y="119490"/>
            <a:ext cx="11828110" cy="1116644"/>
          </a:xfrm>
          <a:prstGeom prst="rect">
            <a:avLst/>
          </a:prstGeom>
          <a:solidFill>
            <a:srgbClr val="F2E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rgbClr val="E6CEF6"/>
              </a:solidFill>
            </a:endParaRPr>
          </a:p>
        </p:txBody>
      </p:sp>
      <p:sp>
        <p:nvSpPr>
          <p:cNvPr id="6" name="CuadroTexto 5">
            <a:extLst>
              <a:ext uri="{FF2B5EF4-FFF2-40B4-BE49-F238E27FC236}">
                <a16:creationId xmlns:a16="http://schemas.microsoft.com/office/drawing/2014/main" id="{8ACF5419-00D3-6DF2-8F11-D8288C85CCB5}"/>
              </a:ext>
            </a:extLst>
          </p:cNvPr>
          <p:cNvSpPr txBox="1"/>
          <p:nvPr/>
        </p:nvSpPr>
        <p:spPr>
          <a:xfrm>
            <a:off x="186267" y="474679"/>
            <a:ext cx="10794999" cy="406265"/>
          </a:xfrm>
          <a:prstGeom prst="rect">
            <a:avLst/>
          </a:prstGeom>
          <a:noFill/>
        </p:spPr>
        <p:txBody>
          <a:bodyPr wrap="square">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lang="es-ES" sz="2400" b="1" i="0" u="none" strike="noStrike" kern="1200" cap="none" spc="-20" normalizeH="0" dirty="0">
                <a:ln>
                  <a:noFill/>
                </a:ln>
                <a:solidFill>
                  <a:srgbClr val="D50D97"/>
                </a:solidFill>
                <a:effectLst/>
                <a:uLnTx/>
                <a:uFillTx/>
                <a:latin typeface="Segoe UI"/>
                <a:ea typeface="+mn-ea"/>
                <a:cs typeface="+mn-cs"/>
              </a:rPr>
              <a:t>ARQUITECTURA ANALÍTICA PARA GESTIÓN INTEGRAL DE RIESGOS</a:t>
            </a:r>
          </a:p>
        </p:txBody>
      </p:sp>
      <p:pic>
        <p:nvPicPr>
          <p:cNvPr id="4" name="Picture 2" descr="RECARGA NEQUI COLOMBIA">
            <a:extLst>
              <a:ext uri="{FF2B5EF4-FFF2-40B4-BE49-F238E27FC236}">
                <a16:creationId xmlns:a16="http://schemas.microsoft.com/office/drawing/2014/main" id="{6851FB60-2E81-6C04-98F1-3D7B52D8B1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0712" y="0"/>
            <a:ext cx="1431287" cy="143128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CCC20968-C3F5-9635-B3E2-BEEEA16AC3CB}"/>
              </a:ext>
            </a:extLst>
          </p:cNvPr>
          <p:cNvPicPr>
            <a:picLocks noChangeAspect="1"/>
          </p:cNvPicPr>
          <p:nvPr/>
        </p:nvPicPr>
        <p:blipFill>
          <a:blip r:embed="rId3">
            <a:lum bright="70000" contrast="-70000"/>
            <a:alphaModFix amt="70000"/>
          </a:blip>
          <a:stretch>
            <a:fillRect/>
          </a:stretch>
        </p:blipFill>
        <p:spPr>
          <a:xfrm>
            <a:off x="10981267" y="0"/>
            <a:ext cx="1210731" cy="1938867"/>
          </a:xfrm>
          <a:prstGeom prst="rect">
            <a:avLst/>
          </a:prstGeom>
        </p:spPr>
      </p:pic>
      <p:pic>
        <p:nvPicPr>
          <p:cNvPr id="10" name="Imagen 9" descr="Diagrama&#10;&#10;El contenido generado por IA puede ser incorrecto.">
            <a:extLst>
              <a:ext uri="{FF2B5EF4-FFF2-40B4-BE49-F238E27FC236}">
                <a16:creationId xmlns:a16="http://schemas.microsoft.com/office/drawing/2014/main" id="{49053266-4E5E-687C-D9A2-27AF9AAB3DEC}"/>
              </a:ext>
            </a:extLst>
          </p:cNvPr>
          <p:cNvPicPr>
            <a:picLocks noChangeAspect="1"/>
          </p:cNvPicPr>
          <p:nvPr/>
        </p:nvPicPr>
        <p:blipFill>
          <a:blip r:embed="rId4"/>
          <a:stretch>
            <a:fillRect/>
          </a:stretch>
        </p:blipFill>
        <p:spPr>
          <a:xfrm>
            <a:off x="3185437" y="1550777"/>
            <a:ext cx="7787785" cy="5025555"/>
          </a:xfrm>
          <a:prstGeom prst="rect">
            <a:avLst/>
          </a:prstGeom>
        </p:spPr>
      </p:pic>
    </p:spTree>
    <p:extLst>
      <p:ext uri="{BB962C8B-B14F-4D97-AF65-F5344CB8AC3E}">
        <p14:creationId xmlns:p14="http://schemas.microsoft.com/office/powerpoint/2010/main" val="32304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ángulo: esquinas redondeadas 26">
            <a:extLst>
              <a:ext uri="{FF2B5EF4-FFF2-40B4-BE49-F238E27FC236}">
                <a16:creationId xmlns:a16="http://schemas.microsoft.com/office/drawing/2014/main" id="{F89BA904-3B51-CEDD-1A52-0C34BF41E46E}"/>
              </a:ext>
            </a:extLst>
          </p:cNvPr>
          <p:cNvSpPr/>
          <p:nvPr/>
        </p:nvSpPr>
        <p:spPr>
          <a:xfrm>
            <a:off x="6396990" y="3986015"/>
            <a:ext cx="4046615" cy="1310881"/>
          </a:xfrm>
          <a:prstGeom prst="roundRect">
            <a:avLst>
              <a:gd name="adj" fmla="val 10983"/>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p:cNvSpPr>
            <a:spLocks noGrp="1"/>
          </p:cNvSpPr>
          <p:nvPr>
            <p:ph type="title"/>
          </p:nvPr>
        </p:nvSpPr>
        <p:spPr>
          <a:xfrm>
            <a:off x="0" y="0"/>
            <a:ext cx="12192000" cy="1050758"/>
          </a:xfrm>
        </p:spPr>
        <p:txBody>
          <a:bodyPr rtlCol="0"/>
          <a:lstStyle/>
          <a:p>
            <a:pPr rtl="0"/>
            <a:r>
              <a:rPr lang="es-ES" dirty="0">
                <a:solidFill>
                  <a:srgbClr val="C00000"/>
                </a:solidFill>
              </a:rPr>
              <a:t>ANÁLISIS DESCRIPTIVO</a:t>
            </a:r>
          </a:p>
        </p:txBody>
      </p:sp>
      <p:sp>
        <p:nvSpPr>
          <p:cNvPr id="2" name="Marcador de número de diapositiva 1"/>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lumMod val="75000"/>
                    <a:lumOff val="25000"/>
                  </a:schemeClr>
                </a:solidFill>
              </a:rPr>
              <a:pPr rtl="0"/>
              <a:t>3</a:t>
            </a:fld>
            <a:endParaRPr lang="es-ES">
              <a:solidFill>
                <a:schemeClr val="tx1">
                  <a:lumMod val="75000"/>
                  <a:lumOff val="25000"/>
                </a:schemeClr>
              </a:solidFill>
            </a:endParaRPr>
          </a:p>
        </p:txBody>
      </p:sp>
      <p:pic>
        <p:nvPicPr>
          <p:cNvPr id="5" name="Imagen 4">
            <a:extLst>
              <a:ext uri="{FF2B5EF4-FFF2-40B4-BE49-F238E27FC236}">
                <a16:creationId xmlns:a16="http://schemas.microsoft.com/office/drawing/2014/main" id="{92E320F1-1F58-DCCB-8CB0-D92C76218B61}"/>
              </a:ext>
            </a:extLst>
          </p:cNvPr>
          <p:cNvPicPr>
            <a:picLocks noChangeAspect="1"/>
          </p:cNvPicPr>
          <p:nvPr/>
        </p:nvPicPr>
        <p:blipFill>
          <a:blip r:embed="rId3"/>
          <a:srcRect t="2295"/>
          <a:stretch/>
        </p:blipFill>
        <p:spPr>
          <a:xfrm>
            <a:off x="1488747" y="3047999"/>
            <a:ext cx="4339706" cy="3268663"/>
          </a:xfrm>
          <a:prstGeom prst="rect">
            <a:avLst/>
          </a:prstGeom>
        </p:spPr>
      </p:pic>
      <p:graphicFrame>
        <p:nvGraphicFramePr>
          <p:cNvPr id="8" name="Tabla 7">
            <a:extLst>
              <a:ext uri="{FF2B5EF4-FFF2-40B4-BE49-F238E27FC236}">
                <a16:creationId xmlns:a16="http://schemas.microsoft.com/office/drawing/2014/main" id="{8CDAA112-AD65-857E-F67F-E54619E36AF7}"/>
              </a:ext>
            </a:extLst>
          </p:cNvPr>
          <p:cNvGraphicFramePr>
            <a:graphicFrameLocks noGrp="1"/>
          </p:cNvGraphicFramePr>
          <p:nvPr>
            <p:extLst>
              <p:ext uri="{D42A27DB-BD31-4B8C-83A1-F6EECF244321}">
                <p14:modId xmlns:p14="http://schemas.microsoft.com/office/powerpoint/2010/main" val="4248623331"/>
              </p:ext>
            </p:extLst>
          </p:nvPr>
        </p:nvGraphicFramePr>
        <p:xfrm>
          <a:off x="6562854" y="4117777"/>
          <a:ext cx="3798706" cy="1029298"/>
        </p:xfrm>
        <a:graphic>
          <a:graphicData uri="http://schemas.openxmlformats.org/drawingml/2006/table">
            <a:tbl>
              <a:tblPr firstRow="1">
                <a:tableStyleId>{2D5ABB26-0587-4C30-8999-92F81FD0307C}</a:tableStyleId>
              </a:tblPr>
              <a:tblGrid>
                <a:gridCol w="3798706">
                  <a:extLst>
                    <a:ext uri="{9D8B030D-6E8A-4147-A177-3AD203B41FA5}">
                      <a16:colId xmlns:a16="http://schemas.microsoft.com/office/drawing/2014/main" val="2203408343"/>
                    </a:ext>
                  </a:extLst>
                </a:gridCol>
              </a:tblGrid>
              <a:tr h="317221">
                <a:tc>
                  <a:txBody>
                    <a:bodyPr/>
                    <a:lstStyle/>
                    <a:p>
                      <a:pPr lvl="1" rtl="0"/>
                      <a:r>
                        <a:rPr lang="es" sz="1400" b="1" dirty="0">
                          <a:solidFill>
                            <a:schemeClr val="tx1">
                              <a:lumMod val="75000"/>
                              <a:lumOff val="25000"/>
                            </a:schemeClr>
                          </a:solidFill>
                        </a:rPr>
                        <a:t>Dataset desbalanceado</a:t>
                      </a:r>
                    </a:p>
                  </a:txBody>
                  <a:tcPr/>
                </a:tc>
                <a:extLst>
                  <a:ext uri="{0D108BD9-81ED-4DB2-BD59-A6C34878D82A}">
                    <a16:rowId xmlns:a16="http://schemas.microsoft.com/office/drawing/2014/main" val="1140976362"/>
                  </a:ext>
                </a:extLst>
              </a:tr>
              <a:tr h="712077">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spc="0" baseline="0" dirty="0"/>
                        <a:t>El conjunto de datos presenta un desbalance significativo, con solo el 11.7% de los clientes suscribiendo un depósito a plazo.</a:t>
                      </a:r>
                      <a:endParaRPr lang="es" sz="1200" spc="0" baseline="0" dirty="0"/>
                    </a:p>
                  </a:txBody>
                  <a:tcPr anchor="ctr"/>
                </a:tc>
                <a:extLst>
                  <a:ext uri="{0D108BD9-81ED-4DB2-BD59-A6C34878D82A}">
                    <a16:rowId xmlns:a16="http://schemas.microsoft.com/office/drawing/2014/main" val="3605060090"/>
                  </a:ext>
                </a:extLst>
              </a:tr>
            </a:tbl>
          </a:graphicData>
        </a:graphic>
      </p:graphicFrame>
      <p:graphicFrame>
        <p:nvGraphicFramePr>
          <p:cNvPr id="10" name="Tabla 9">
            <a:extLst>
              <a:ext uri="{FF2B5EF4-FFF2-40B4-BE49-F238E27FC236}">
                <a16:creationId xmlns:a16="http://schemas.microsoft.com/office/drawing/2014/main" id="{104E1296-F7A2-8D6C-1747-555808B7EBC1}"/>
              </a:ext>
            </a:extLst>
          </p:cNvPr>
          <p:cNvGraphicFramePr>
            <a:graphicFrameLocks noGrp="1"/>
          </p:cNvGraphicFramePr>
          <p:nvPr>
            <p:extLst>
              <p:ext uri="{D42A27DB-BD31-4B8C-83A1-F6EECF244321}">
                <p14:modId xmlns:p14="http://schemas.microsoft.com/office/powerpoint/2010/main" val="1414060649"/>
              </p:ext>
            </p:extLst>
          </p:nvPr>
        </p:nvGraphicFramePr>
        <p:xfrm>
          <a:off x="605151" y="1665134"/>
          <a:ext cx="10731716" cy="1034692"/>
        </p:xfrm>
        <a:graphic>
          <a:graphicData uri="http://schemas.openxmlformats.org/drawingml/2006/table">
            <a:tbl>
              <a:tblPr firstRow="1">
                <a:tableStyleId>{5C22544A-7EE6-4342-B048-85BDC9FD1C3A}</a:tableStyleId>
              </a:tblPr>
              <a:tblGrid>
                <a:gridCol w="10731716">
                  <a:extLst>
                    <a:ext uri="{9D8B030D-6E8A-4147-A177-3AD203B41FA5}">
                      <a16:colId xmlns:a16="http://schemas.microsoft.com/office/drawing/2014/main" val="2692859969"/>
                    </a:ext>
                  </a:extLst>
                </a:gridCol>
              </a:tblGrid>
              <a:tr h="52081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b="0" kern="1200" spc="30" dirty="0">
                          <a:solidFill>
                            <a:schemeClr val="dk1"/>
                          </a:solidFill>
                          <a:latin typeface="+mn-lt"/>
                          <a:ea typeface="+mn-ea"/>
                          <a:cs typeface="+mn-cs"/>
                        </a:rPr>
                        <a:t>El objetivo de la clasificación es predecir la probabilidad de que un cliente suscriba un depósito a plazo, basado en los resultados de campañas de marketing de una institución bancaria.</a:t>
                      </a:r>
                      <a:endParaRPr lang="es" sz="1200" b="0" kern="1200" spc="30" dirty="0">
                        <a:solidFill>
                          <a:schemeClr val="dk1"/>
                        </a:solidFill>
                        <a:latin typeface="+mn-lt"/>
                        <a:ea typeface="+mn-ea"/>
                        <a:cs typeface="+mn-cs"/>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9864303"/>
                  </a:ext>
                </a:extLst>
              </a:tr>
              <a:tr h="513877">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spc="30" dirty="0"/>
                        <a:t>Conjunto de datos con 45K registros para el análisis.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spc="30" dirty="0"/>
                        <a:t>16 variables explicativas y 1 variable binaria de respuesta.</a:t>
                      </a:r>
                      <a:endParaRPr lang="es" sz="1200" spc="30" dirty="0"/>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5959016"/>
                  </a:ext>
                </a:extLst>
              </a:tr>
            </a:tbl>
          </a:graphicData>
        </a:graphic>
      </p:graphicFrame>
      <p:pic>
        <p:nvPicPr>
          <p:cNvPr id="26" name="Imagen 25" descr="Icono&#10;&#10;Descripción generada automáticamente">
            <a:extLst>
              <a:ext uri="{FF2B5EF4-FFF2-40B4-BE49-F238E27FC236}">
                <a16:creationId xmlns:a16="http://schemas.microsoft.com/office/drawing/2014/main" id="{6E252ED1-6ABD-B99A-B48F-613CFB84C5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8575" y="4029512"/>
            <a:ext cx="504000" cy="504000"/>
          </a:xfrm>
          <a:prstGeom prst="rect">
            <a:avLst/>
          </a:prstGeom>
        </p:spPr>
      </p:pic>
      <p:pic>
        <p:nvPicPr>
          <p:cNvPr id="29" name="Picture 2" descr="Datecsa - Banco de Alimentos Cali">
            <a:extLst>
              <a:ext uri="{FF2B5EF4-FFF2-40B4-BE49-F238E27FC236}">
                <a16:creationId xmlns:a16="http://schemas.microsoft.com/office/drawing/2014/main" id="{443D5EFD-A76C-A70D-36E2-9F8C38FC73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31" name="Rectángulo 30">
            <a:extLst>
              <a:ext uri="{FF2B5EF4-FFF2-40B4-BE49-F238E27FC236}">
                <a16:creationId xmlns:a16="http://schemas.microsoft.com/office/drawing/2014/main" id="{B0AF8E91-EB8D-B8B1-AA5C-2419B5A73DD2}"/>
              </a:ext>
            </a:extLst>
          </p:cNvPr>
          <p:cNvSpPr/>
          <p:nvPr/>
        </p:nvSpPr>
        <p:spPr>
          <a:xfrm>
            <a:off x="0" y="850848"/>
            <a:ext cx="2599267"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CuadroTexto 31">
            <a:extLst>
              <a:ext uri="{FF2B5EF4-FFF2-40B4-BE49-F238E27FC236}">
                <a16:creationId xmlns:a16="http://schemas.microsoft.com/office/drawing/2014/main" id="{CC384C30-B4AC-87DB-D619-C153268F8CC1}"/>
              </a:ext>
            </a:extLst>
          </p:cNvPr>
          <p:cNvSpPr txBox="1"/>
          <p:nvPr/>
        </p:nvSpPr>
        <p:spPr>
          <a:xfrm>
            <a:off x="160866" y="914627"/>
            <a:ext cx="2599267" cy="338554"/>
          </a:xfrm>
          <a:prstGeom prst="rect">
            <a:avLst/>
          </a:prstGeom>
          <a:noFill/>
        </p:spPr>
        <p:txBody>
          <a:bodyPr wrap="square" rtlCol="0">
            <a:spAutoFit/>
          </a:bodyPr>
          <a:lstStyle/>
          <a:p>
            <a:r>
              <a:rPr lang="es-CO" sz="1600" b="1" dirty="0">
                <a:solidFill>
                  <a:srgbClr val="C00000"/>
                </a:solidFill>
              </a:rPr>
              <a:t>Contexto</a:t>
            </a:r>
          </a:p>
        </p:txBody>
      </p:sp>
    </p:spTree>
    <p:extLst>
      <p:ext uri="{BB962C8B-B14F-4D97-AF65-F5344CB8AC3E}">
        <p14:creationId xmlns:p14="http://schemas.microsoft.com/office/powerpoint/2010/main" val="10198138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2721-8AD9-F8E2-07B3-2C5A76B16500}"/>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298DAA89-5CFE-6634-5812-DA22D0428CED}"/>
              </a:ext>
            </a:extLst>
          </p:cNvPr>
          <p:cNvSpPr>
            <a:spLocks noGrp="1"/>
          </p:cNvSpPr>
          <p:nvPr>
            <p:ph type="title"/>
          </p:nvPr>
        </p:nvSpPr>
        <p:spPr>
          <a:xfrm>
            <a:off x="0" y="0"/>
            <a:ext cx="12192000" cy="1050758"/>
          </a:xfrm>
        </p:spPr>
        <p:txBody>
          <a:bodyPr rtlCol="0"/>
          <a:lstStyle/>
          <a:p>
            <a:pPr rtl="0"/>
            <a:r>
              <a:rPr lang="es-ES" dirty="0">
                <a:solidFill>
                  <a:srgbClr val="C00000"/>
                </a:solidFill>
              </a:rPr>
              <a:t>ANÁLISIS DESCRIPTIVO</a:t>
            </a:r>
          </a:p>
        </p:txBody>
      </p:sp>
      <p:sp>
        <p:nvSpPr>
          <p:cNvPr id="2" name="Marcador de número de diapositiva 1">
            <a:extLst>
              <a:ext uri="{FF2B5EF4-FFF2-40B4-BE49-F238E27FC236}">
                <a16:creationId xmlns:a16="http://schemas.microsoft.com/office/drawing/2014/main" id="{D3ADDA73-1044-05B5-4426-C9C6511CA339}"/>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lumMod val="75000"/>
                    <a:lumOff val="25000"/>
                  </a:schemeClr>
                </a:solidFill>
              </a:rPr>
              <a:pPr rtl="0"/>
              <a:t>4</a:t>
            </a:fld>
            <a:endParaRPr lang="es-ES" dirty="0">
              <a:solidFill>
                <a:schemeClr val="tx1">
                  <a:lumMod val="75000"/>
                  <a:lumOff val="25000"/>
                </a:schemeClr>
              </a:solidFill>
            </a:endParaRPr>
          </a:p>
        </p:txBody>
      </p:sp>
      <p:pic>
        <p:nvPicPr>
          <p:cNvPr id="12" name="Imagen 11">
            <a:extLst>
              <a:ext uri="{FF2B5EF4-FFF2-40B4-BE49-F238E27FC236}">
                <a16:creationId xmlns:a16="http://schemas.microsoft.com/office/drawing/2014/main" id="{00879BB5-AFE3-540F-EF4A-828F73181915}"/>
              </a:ext>
            </a:extLst>
          </p:cNvPr>
          <p:cNvPicPr>
            <a:picLocks noChangeAspect="1"/>
          </p:cNvPicPr>
          <p:nvPr/>
        </p:nvPicPr>
        <p:blipFill>
          <a:blip r:embed="rId3"/>
          <a:stretch>
            <a:fillRect/>
          </a:stretch>
        </p:blipFill>
        <p:spPr>
          <a:xfrm>
            <a:off x="1062203" y="1705712"/>
            <a:ext cx="4680000" cy="2869003"/>
          </a:xfrm>
          <a:prstGeom prst="rect">
            <a:avLst/>
          </a:prstGeom>
        </p:spPr>
      </p:pic>
      <p:graphicFrame>
        <p:nvGraphicFramePr>
          <p:cNvPr id="7" name="Tabla 6">
            <a:extLst>
              <a:ext uri="{FF2B5EF4-FFF2-40B4-BE49-F238E27FC236}">
                <a16:creationId xmlns:a16="http://schemas.microsoft.com/office/drawing/2014/main" id="{CA9E94F1-BF5D-86C4-F725-E97BA34613C8}"/>
              </a:ext>
            </a:extLst>
          </p:cNvPr>
          <p:cNvGraphicFramePr>
            <a:graphicFrameLocks noGrp="1"/>
          </p:cNvGraphicFramePr>
          <p:nvPr>
            <p:extLst>
              <p:ext uri="{D42A27DB-BD31-4B8C-83A1-F6EECF244321}">
                <p14:modId xmlns:p14="http://schemas.microsoft.com/office/powerpoint/2010/main" val="547650692"/>
              </p:ext>
            </p:extLst>
          </p:nvPr>
        </p:nvGraphicFramePr>
        <p:xfrm>
          <a:off x="1062203" y="4840918"/>
          <a:ext cx="4680000" cy="1080000"/>
        </p:xfrm>
        <a:graphic>
          <a:graphicData uri="http://schemas.openxmlformats.org/drawingml/2006/table">
            <a:tbl>
              <a:tblPr firstRow="1">
                <a:tableStyleId>{5C22544A-7EE6-4342-B048-85BDC9FD1C3A}</a:tableStyleId>
              </a:tblPr>
              <a:tblGrid>
                <a:gridCol w="4680000">
                  <a:extLst>
                    <a:ext uri="{9D8B030D-6E8A-4147-A177-3AD203B41FA5}">
                      <a16:colId xmlns:a16="http://schemas.microsoft.com/office/drawing/2014/main" val="2203408343"/>
                    </a:ext>
                  </a:extLst>
                </a:gridCol>
              </a:tblGrid>
              <a:tr h="372384">
                <a:tc>
                  <a:txBody>
                    <a:bodyPr/>
                    <a:lstStyle/>
                    <a:p>
                      <a:pPr rtl="0"/>
                      <a:r>
                        <a:rPr lang="es" sz="1600" b="1" dirty="0">
                          <a:solidFill>
                            <a:schemeClr val="bg1"/>
                          </a:solidFill>
                        </a:rPr>
                        <a:t>Distribución de edad en clientes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1140976362"/>
                  </a:ext>
                </a:extLst>
              </a:tr>
              <a:tr h="70761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spc="0" baseline="0" dirty="0"/>
                        <a:t>La mayoría de los clientes tienen entre 30 y 40 años. La distribución de edad es ligeramente asimétrica hacia la derecha, con algunos casos aislados de más de 70 años.</a:t>
                      </a:r>
                      <a:endParaRPr lang="es" sz="1200" spc="0" baseline="0" dirty="0"/>
                    </a:p>
                  </a:txBody>
                  <a:tcPr anchor="ctr">
                    <a:lnL w="12700" cmpd="sng">
                      <a:noFill/>
                    </a:lnL>
                    <a:lnR w="12700" cmpd="sng">
                      <a:noFill/>
                    </a:lnR>
                    <a:lnT w="12700" cmpd="sng">
                      <a:noFill/>
                    </a:lnT>
                    <a:lnB w="317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5060090"/>
                  </a:ext>
                </a:extLst>
              </a:tr>
            </a:tbl>
          </a:graphicData>
        </a:graphic>
      </p:graphicFrame>
      <p:pic>
        <p:nvPicPr>
          <p:cNvPr id="19" name="Imagen 18">
            <a:extLst>
              <a:ext uri="{FF2B5EF4-FFF2-40B4-BE49-F238E27FC236}">
                <a16:creationId xmlns:a16="http://schemas.microsoft.com/office/drawing/2014/main" id="{58F8C56D-43AE-A981-1AB9-02C3A46BAA77}"/>
              </a:ext>
            </a:extLst>
          </p:cNvPr>
          <p:cNvPicPr>
            <a:picLocks noChangeAspect="1"/>
          </p:cNvPicPr>
          <p:nvPr/>
        </p:nvPicPr>
        <p:blipFill>
          <a:blip r:embed="rId4"/>
          <a:srcRect l="957" t="2086" r="5141" b="1"/>
          <a:stretch/>
        </p:blipFill>
        <p:spPr>
          <a:xfrm>
            <a:off x="6502400" y="1693329"/>
            <a:ext cx="4680000" cy="2881386"/>
          </a:xfrm>
          <a:prstGeom prst="rect">
            <a:avLst/>
          </a:prstGeom>
        </p:spPr>
      </p:pic>
      <p:graphicFrame>
        <p:nvGraphicFramePr>
          <p:cNvPr id="20" name="Tabla 19">
            <a:extLst>
              <a:ext uri="{FF2B5EF4-FFF2-40B4-BE49-F238E27FC236}">
                <a16:creationId xmlns:a16="http://schemas.microsoft.com/office/drawing/2014/main" id="{323770AA-E1CB-883F-7978-4E3A66F5FD7B}"/>
              </a:ext>
            </a:extLst>
          </p:cNvPr>
          <p:cNvGraphicFramePr>
            <a:graphicFrameLocks noGrp="1"/>
          </p:cNvGraphicFramePr>
          <p:nvPr>
            <p:extLst>
              <p:ext uri="{D42A27DB-BD31-4B8C-83A1-F6EECF244321}">
                <p14:modId xmlns:p14="http://schemas.microsoft.com/office/powerpoint/2010/main" val="344319946"/>
              </p:ext>
            </p:extLst>
          </p:nvPr>
        </p:nvGraphicFramePr>
        <p:xfrm>
          <a:off x="6502400" y="4840918"/>
          <a:ext cx="4680000" cy="1080000"/>
        </p:xfrm>
        <a:graphic>
          <a:graphicData uri="http://schemas.openxmlformats.org/drawingml/2006/table">
            <a:tbl>
              <a:tblPr firstRow="1">
                <a:tableStyleId>{5C22544A-7EE6-4342-B048-85BDC9FD1C3A}</a:tableStyleId>
              </a:tblPr>
              <a:tblGrid>
                <a:gridCol w="4680000">
                  <a:extLst>
                    <a:ext uri="{9D8B030D-6E8A-4147-A177-3AD203B41FA5}">
                      <a16:colId xmlns:a16="http://schemas.microsoft.com/office/drawing/2014/main" val="2203408343"/>
                    </a:ext>
                  </a:extLst>
                </a:gridCol>
              </a:tblGrid>
              <a:tr h="372384">
                <a:tc>
                  <a:txBody>
                    <a:bodyPr/>
                    <a:lstStyle/>
                    <a:p>
                      <a:pPr rtl="0"/>
                      <a:r>
                        <a:rPr lang="es-ES" sz="1600" b="1" dirty="0">
                          <a:solidFill>
                            <a:schemeClr val="bg1"/>
                          </a:solidFill>
                        </a:rPr>
                        <a:t>Distribución de duración de contacto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1140976362"/>
                  </a:ext>
                </a:extLst>
              </a:tr>
              <a:tr h="70761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spc="0" baseline="0" dirty="0"/>
                        <a:t>La distribución también está sesgada hacia la derecha, ya que la mayoría de las duraciones de los contactos son inferiores a 500 segundos.</a:t>
                      </a:r>
                    </a:p>
                  </a:txBody>
                  <a:tcPr anchor="ctr">
                    <a:lnL w="12700" cmpd="sng">
                      <a:noFill/>
                    </a:lnL>
                    <a:lnR w="12700" cmpd="sng">
                      <a:noFill/>
                    </a:lnR>
                    <a:lnT w="12700" cmpd="sng">
                      <a:noFill/>
                    </a:lnT>
                    <a:lnB w="317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5060090"/>
                  </a:ext>
                </a:extLst>
              </a:tr>
            </a:tbl>
          </a:graphicData>
        </a:graphic>
      </p:graphicFrame>
      <p:pic>
        <p:nvPicPr>
          <p:cNvPr id="21" name="Picture 2" descr="Datecsa - Banco de Alimentos Cali">
            <a:extLst>
              <a:ext uri="{FF2B5EF4-FFF2-40B4-BE49-F238E27FC236}">
                <a16:creationId xmlns:a16="http://schemas.microsoft.com/office/drawing/2014/main" id="{07F9C0B0-DC46-531D-EC20-8CFB07914A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1A0887BD-F232-1603-29E3-C71820B1C33F}"/>
              </a:ext>
            </a:extLst>
          </p:cNvPr>
          <p:cNvSpPr/>
          <p:nvPr/>
        </p:nvSpPr>
        <p:spPr>
          <a:xfrm>
            <a:off x="0" y="850848"/>
            <a:ext cx="2599267"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CuadroTexto 23">
            <a:extLst>
              <a:ext uri="{FF2B5EF4-FFF2-40B4-BE49-F238E27FC236}">
                <a16:creationId xmlns:a16="http://schemas.microsoft.com/office/drawing/2014/main" id="{61510588-FBBC-01ED-83A5-349D0D4B6C8B}"/>
              </a:ext>
            </a:extLst>
          </p:cNvPr>
          <p:cNvSpPr txBox="1"/>
          <p:nvPr/>
        </p:nvSpPr>
        <p:spPr>
          <a:xfrm>
            <a:off x="160866" y="914627"/>
            <a:ext cx="2599267" cy="338554"/>
          </a:xfrm>
          <a:prstGeom prst="rect">
            <a:avLst/>
          </a:prstGeom>
          <a:noFill/>
        </p:spPr>
        <p:txBody>
          <a:bodyPr wrap="square" rtlCol="0">
            <a:spAutoFit/>
          </a:bodyPr>
          <a:lstStyle/>
          <a:p>
            <a:r>
              <a:rPr lang="es-CO" sz="1600" b="1" dirty="0">
                <a:solidFill>
                  <a:srgbClr val="C00000"/>
                </a:solidFill>
              </a:rPr>
              <a:t>Análisis Estadístico</a:t>
            </a:r>
          </a:p>
        </p:txBody>
      </p:sp>
    </p:spTree>
    <p:extLst>
      <p:ext uri="{BB962C8B-B14F-4D97-AF65-F5344CB8AC3E}">
        <p14:creationId xmlns:p14="http://schemas.microsoft.com/office/powerpoint/2010/main" val="42274135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99F04-7CF9-CE28-E288-7CFCCFCFAAAF}"/>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C48BE4F3-6147-3D75-D68E-C554978FCFD8}"/>
              </a:ext>
            </a:extLst>
          </p:cNvPr>
          <p:cNvSpPr>
            <a:spLocks noGrp="1"/>
          </p:cNvSpPr>
          <p:nvPr>
            <p:ph type="title"/>
          </p:nvPr>
        </p:nvSpPr>
        <p:spPr>
          <a:xfrm>
            <a:off x="0" y="0"/>
            <a:ext cx="12192000" cy="1050758"/>
          </a:xfrm>
        </p:spPr>
        <p:txBody>
          <a:bodyPr rtlCol="0"/>
          <a:lstStyle/>
          <a:p>
            <a:pPr rtl="0"/>
            <a:r>
              <a:rPr lang="es-ES" dirty="0">
                <a:solidFill>
                  <a:srgbClr val="C00000"/>
                </a:solidFill>
              </a:rPr>
              <a:t>ANÁLISIS DESCRIPTIVO</a:t>
            </a:r>
          </a:p>
        </p:txBody>
      </p:sp>
      <p:sp>
        <p:nvSpPr>
          <p:cNvPr id="2" name="Marcador de número de diapositiva 1">
            <a:extLst>
              <a:ext uri="{FF2B5EF4-FFF2-40B4-BE49-F238E27FC236}">
                <a16:creationId xmlns:a16="http://schemas.microsoft.com/office/drawing/2014/main" id="{3777741E-177D-3C97-FFD6-FC4E14A05A7D}"/>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lumMod val="75000"/>
                    <a:lumOff val="25000"/>
                  </a:schemeClr>
                </a:solidFill>
              </a:rPr>
              <a:pPr rtl="0"/>
              <a:t>5</a:t>
            </a:fld>
            <a:endParaRPr lang="es-ES">
              <a:solidFill>
                <a:schemeClr val="tx1">
                  <a:lumMod val="75000"/>
                  <a:lumOff val="25000"/>
                </a:schemeClr>
              </a:solidFill>
            </a:endParaRPr>
          </a:p>
        </p:txBody>
      </p:sp>
      <p:pic>
        <p:nvPicPr>
          <p:cNvPr id="5" name="Imagen 4">
            <a:extLst>
              <a:ext uri="{FF2B5EF4-FFF2-40B4-BE49-F238E27FC236}">
                <a16:creationId xmlns:a16="http://schemas.microsoft.com/office/drawing/2014/main" id="{EFC6D02B-8C8D-0B4D-8849-026CCA9AB1A2}"/>
              </a:ext>
            </a:extLst>
          </p:cNvPr>
          <p:cNvPicPr>
            <a:picLocks noChangeAspect="1"/>
          </p:cNvPicPr>
          <p:nvPr/>
        </p:nvPicPr>
        <p:blipFill>
          <a:blip r:embed="rId3"/>
          <a:stretch>
            <a:fillRect/>
          </a:stretch>
        </p:blipFill>
        <p:spPr>
          <a:xfrm>
            <a:off x="4409312" y="1536360"/>
            <a:ext cx="7424042" cy="4892040"/>
          </a:xfrm>
          <a:prstGeom prst="rect">
            <a:avLst/>
          </a:prstGeom>
        </p:spPr>
      </p:pic>
      <p:graphicFrame>
        <p:nvGraphicFramePr>
          <p:cNvPr id="7" name="Tabla 6">
            <a:extLst>
              <a:ext uri="{FF2B5EF4-FFF2-40B4-BE49-F238E27FC236}">
                <a16:creationId xmlns:a16="http://schemas.microsoft.com/office/drawing/2014/main" id="{3933BEDA-1BC2-CA19-E818-0BAE3594BFC3}"/>
              </a:ext>
            </a:extLst>
          </p:cNvPr>
          <p:cNvGraphicFramePr>
            <a:graphicFrameLocks noGrp="1"/>
          </p:cNvGraphicFramePr>
          <p:nvPr>
            <p:extLst>
              <p:ext uri="{D42A27DB-BD31-4B8C-83A1-F6EECF244321}">
                <p14:modId xmlns:p14="http://schemas.microsoft.com/office/powerpoint/2010/main" val="3293056963"/>
              </p:ext>
            </p:extLst>
          </p:nvPr>
        </p:nvGraphicFramePr>
        <p:xfrm>
          <a:off x="294170" y="1536360"/>
          <a:ext cx="3999654" cy="4892040"/>
        </p:xfrm>
        <a:graphic>
          <a:graphicData uri="http://schemas.openxmlformats.org/drawingml/2006/table">
            <a:tbl>
              <a:tblPr firstRow="1">
                <a:tableStyleId>{5C22544A-7EE6-4342-B048-85BDC9FD1C3A}</a:tableStyleId>
              </a:tblPr>
              <a:tblGrid>
                <a:gridCol w="3999654">
                  <a:extLst>
                    <a:ext uri="{9D8B030D-6E8A-4147-A177-3AD203B41FA5}">
                      <a16:colId xmlns:a16="http://schemas.microsoft.com/office/drawing/2014/main" val="2203408343"/>
                    </a:ext>
                  </a:extLst>
                </a:gridCol>
              </a:tblGrid>
              <a:tr h="4566468">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kern="1200" spc="0" baseline="0" dirty="0">
                          <a:solidFill>
                            <a:schemeClr val="dk1"/>
                          </a:solidFill>
                          <a:latin typeface="+mn-lt"/>
                          <a:ea typeface="+mn-ea"/>
                          <a:cs typeface="+mn-cs"/>
                        </a:rPr>
                        <a:t>Age: </a:t>
                      </a:r>
                      <a:r>
                        <a:rPr lang="es-ES" sz="1050" b="0" kern="1200" spc="0" baseline="0" dirty="0">
                          <a:solidFill>
                            <a:schemeClr val="dk1"/>
                          </a:solidFill>
                          <a:latin typeface="+mn-lt"/>
                          <a:ea typeface="+mn-ea"/>
                          <a:cs typeface="+mn-cs"/>
                        </a:rPr>
                        <a:t>la mayoría de las personas tienen entre 20 y 50 años, con un pico alrededor de los 30. La distribución se inclina ligeramente hacia la derecha, con algunos individuos hasta alrededor de los 90 años.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kern="1200" spc="0" baseline="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kern="1200" spc="0" baseline="0" dirty="0">
                          <a:solidFill>
                            <a:schemeClr val="dk1"/>
                          </a:solidFill>
                          <a:latin typeface="+mn-lt"/>
                          <a:ea typeface="+mn-ea"/>
                          <a:cs typeface="+mn-cs"/>
                        </a:rPr>
                        <a:t>Balance: </a:t>
                      </a:r>
                      <a:r>
                        <a:rPr lang="es-ES" sz="1050" b="0" kern="1200" spc="0" baseline="0" dirty="0">
                          <a:solidFill>
                            <a:schemeClr val="dk1"/>
                          </a:solidFill>
                          <a:latin typeface="+mn-lt"/>
                          <a:ea typeface="+mn-ea"/>
                          <a:cs typeface="+mn-cs"/>
                        </a:rPr>
                        <a:t>la distribución está muy sesgada a la derecha, con la mayoría de los valores cercanos a cero. Algunas personas tienen saldos que llegan hasta 100.000, pero valores tan altos son atípicos.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kern="1200" spc="0" baseline="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kern="1200" spc="0" baseline="0" dirty="0">
                          <a:solidFill>
                            <a:schemeClr val="dk1"/>
                          </a:solidFill>
                          <a:latin typeface="+mn-lt"/>
                          <a:ea typeface="+mn-ea"/>
                          <a:cs typeface="+mn-cs"/>
                        </a:rPr>
                        <a:t>Day: </a:t>
                      </a:r>
                      <a:r>
                        <a:rPr lang="es-ES" sz="1050" b="0" kern="1200" spc="0" baseline="0" dirty="0">
                          <a:solidFill>
                            <a:schemeClr val="dk1"/>
                          </a:solidFill>
                          <a:latin typeface="+mn-lt"/>
                          <a:ea typeface="+mn-ea"/>
                          <a:cs typeface="+mn-cs"/>
                        </a:rPr>
                        <a:t>Los datos se encuentran entre 0 y 30 días de manera dispersa.</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kern="1200" spc="0" baseline="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kern="1200" spc="0" baseline="0" dirty="0" err="1">
                          <a:solidFill>
                            <a:schemeClr val="dk1"/>
                          </a:solidFill>
                          <a:latin typeface="+mn-lt"/>
                          <a:ea typeface="+mn-ea"/>
                          <a:cs typeface="+mn-cs"/>
                        </a:rPr>
                        <a:t>Duration</a:t>
                      </a:r>
                      <a:r>
                        <a:rPr lang="es-ES" sz="1050" b="1" kern="1200" spc="0" baseline="0" dirty="0">
                          <a:solidFill>
                            <a:schemeClr val="dk1"/>
                          </a:solidFill>
                          <a:latin typeface="+mn-lt"/>
                          <a:ea typeface="+mn-ea"/>
                          <a:cs typeface="+mn-cs"/>
                        </a:rPr>
                        <a:t>: </a:t>
                      </a:r>
                      <a:r>
                        <a:rPr lang="es-ES" sz="1050" b="0" kern="1200" spc="0" baseline="0" dirty="0">
                          <a:solidFill>
                            <a:schemeClr val="dk1"/>
                          </a:solidFill>
                          <a:latin typeface="+mn-lt"/>
                          <a:ea typeface="+mn-ea"/>
                          <a:cs typeface="+mn-cs"/>
                        </a:rPr>
                        <a:t>esta función también está sesgada hacia la derecha, ya que la mayoría de las duraciones de los contactos son inferiores a 500 segundos.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kern="1200" spc="0" baseline="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kern="1200" spc="0" baseline="0" dirty="0" err="1">
                          <a:solidFill>
                            <a:schemeClr val="dk1"/>
                          </a:solidFill>
                          <a:latin typeface="+mn-lt"/>
                          <a:ea typeface="+mn-ea"/>
                          <a:cs typeface="+mn-cs"/>
                        </a:rPr>
                        <a:t>Campaign</a:t>
                      </a:r>
                      <a:r>
                        <a:rPr lang="es-ES" sz="1050" b="1" kern="1200" spc="0" baseline="0" dirty="0">
                          <a:solidFill>
                            <a:schemeClr val="dk1"/>
                          </a:solidFill>
                          <a:latin typeface="+mn-lt"/>
                          <a:ea typeface="+mn-ea"/>
                          <a:cs typeface="+mn-cs"/>
                        </a:rPr>
                        <a:t>: </a:t>
                      </a:r>
                      <a:r>
                        <a:rPr lang="es-ES" sz="1050" b="0" kern="1200" spc="0" baseline="0" dirty="0">
                          <a:solidFill>
                            <a:schemeClr val="dk1"/>
                          </a:solidFill>
                          <a:latin typeface="+mn-lt"/>
                          <a:ea typeface="+mn-ea"/>
                          <a:cs typeface="+mn-cs"/>
                        </a:rPr>
                        <a:t>La mayoría de las personas han sido contactadas sólo unas pocas veces (menos de 5). Hay algunos casos en los que se contactó a personas hasta 60 veces, pero son poco comunes.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kern="1200" spc="0" baseline="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kern="1200" spc="0" baseline="0" dirty="0" err="1">
                          <a:solidFill>
                            <a:schemeClr val="dk1"/>
                          </a:solidFill>
                          <a:latin typeface="+mn-lt"/>
                          <a:ea typeface="+mn-ea"/>
                          <a:cs typeface="+mn-cs"/>
                        </a:rPr>
                        <a:t>Pdays</a:t>
                      </a:r>
                      <a:r>
                        <a:rPr lang="es-ES" sz="1050" b="1" kern="1200" spc="0" baseline="0" dirty="0">
                          <a:solidFill>
                            <a:schemeClr val="dk1"/>
                          </a:solidFill>
                          <a:latin typeface="+mn-lt"/>
                          <a:ea typeface="+mn-ea"/>
                          <a:cs typeface="+mn-cs"/>
                        </a:rPr>
                        <a:t>: </a:t>
                      </a:r>
                      <a:r>
                        <a:rPr lang="es-ES" sz="1050" b="0" kern="1200" spc="0" baseline="0" dirty="0">
                          <a:solidFill>
                            <a:schemeClr val="dk1"/>
                          </a:solidFill>
                          <a:latin typeface="+mn-lt"/>
                          <a:ea typeface="+mn-ea"/>
                          <a:cs typeface="+mn-cs"/>
                        </a:rPr>
                        <a:t>Se evidencia una concentración de cero, lo que sugiere que muchas personas nunca fueron contactadas o fueron contactadas muy recientemente. Algunos tienen valores que se extienden hasta un poco más de 800 días.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kern="1200" spc="0" baseline="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kern="1200" spc="0" baseline="0" dirty="0" err="1">
                          <a:solidFill>
                            <a:schemeClr val="dk1"/>
                          </a:solidFill>
                          <a:latin typeface="+mn-lt"/>
                          <a:ea typeface="+mn-ea"/>
                          <a:cs typeface="+mn-cs"/>
                        </a:rPr>
                        <a:t>Previous</a:t>
                      </a:r>
                      <a:r>
                        <a:rPr lang="es-ES" sz="1050" b="1" kern="1200" spc="0" baseline="0" dirty="0">
                          <a:solidFill>
                            <a:schemeClr val="dk1"/>
                          </a:solidFill>
                          <a:latin typeface="+mn-lt"/>
                          <a:ea typeface="+mn-ea"/>
                          <a:cs typeface="+mn-cs"/>
                        </a:rPr>
                        <a:t>: </a:t>
                      </a:r>
                      <a:r>
                        <a:rPr lang="es-ES" sz="1050" b="0" kern="1200" spc="0" baseline="0" dirty="0">
                          <a:solidFill>
                            <a:schemeClr val="dk1"/>
                          </a:solidFill>
                          <a:latin typeface="+mn-lt"/>
                          <a:ea typeface="+mn-ea"/>
                          <a:cs typeface="+mn-cs"/>
                        </a:rPr>
                        <a:t>La mayoría de las personas fueron contactadas menos de 10 veces en campañas anteriores, y alguna persona de manera atípica fue contactada hasta más de 250 veces</a:t>
                      </a:r>
                      <a:r>
                        <a:rPr lang="es-ES" sz="1050" spc="0" baseline="0" dirty="0"/>
                        <a:t>.</a:t>
                      </a:r>
                      <a:endParaRPr lang="es" sz="1050" spc="0" baseline="0" dirty="0"/>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5060090"/>
                  </a:ext>
                </a:extLst>
              </a:tr>
            </a:tbl>
          </a:graphicData>
        </a:graphic>
      </p:graphicFrame>
      <p:sp>
        <p:nvSpPr>
          <p:cNvPr id="8" name="Rectángulo 7">
            <a:extLst>
              <a:ext uri="{FF2B5EF4-FFF2-40B4-BE49-F238E27FC236}">
                <a16:creationId xmlns:a16="http://schemas.microsoft.com/office/drawing/2014/main" id="{936C2D85-650B-8D3A-7BC6-D1636CA21304}"/>
              </a:ext>
            </a:extLst>
          </p:cNvPr>
          <p:cNvSpPr/>
          <p:nvPr/>
        </p:nvSpPr>
        <p:spPr>
          <a:xfrm>
            <a:off x="0" y="850848"/>
            <a:ext cx="2599267"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30E7AD52-854B-9F8A-2465-6BCB67695982}"/>
              </a:ext>
            </a:extLst>
          </p:cNvPr>
          <p:cNvSpPr txBox="1"/>
          <p:nvPr/>
        </p:nvSpPr>
        <p:spPr>
          <a:xfrm>
            <a:off x="160866" y="914627"/>
            <a:ext cx="2599267" cy="584775"/>
          </a:xfrm>
          <a:prstGeom prst="rect">
            <a:avLst/>
          </a:prstGeom>
          <a:noFill/>
        </p:spPr>
        <p:txBody>
          <a:bodyPr wrap="square" rtlCol="0">
            <a:spAutoFit/>
          </a:bodyPr>
          <a:lstStyle/>
          <a:p>
            <a:r>
              <a:rPr lang="es-CO" sz="1600" b="1" dirty="0">
                <a:solidFill>
                  <a:srgbClr val="C00000"/>
                </a:solidFill>
              </a:rPr>
              <a:t>Variables Numéricas</a:t>
            </a:r>
          </a:p>
          <a:p>
            <a:endParaRPr lang="es-CO" sz="1600" b="1" dirty="0">
              <a:solidFill>
                <a:srgbClr val="C00000"/>
              </a:solidFill>
            </a:endParaRPr>
          </a:p>
        </p:txBody>
      </p:sp>
      <p:pic>
        <p:nvPicPr>
          <p:cNvPr id="10" name="Picture 2" descr="Datecsa - Banco de Alimentos Cali">
            <a:extLst>
              <a:ext uri="{FF2B5EF4-FFF2-40B4-BE49-F238E27FC236}">
                <a16:creationId xmlns:a16="http://schemas.microsoft.com/office/drawing/2014/main" id="{101435CB-D7C8-00B6-B119-B8789B275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631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6C9D1-B8CE-C364-A0C4-6070863BFEE4}"/>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ADB152F8-7ECD-E15C-5C29-5D798BE3E983}"/>
              </a:ext>
            </a:extLst>
          </p:cNvPr>
          <p:cNvSpPr>
            <a:spLocks noGrp="1"/>
          </p:cNvSpPr>
          <p:nvPr>
            <p:ph type="title"/>
          </p:nvPr>
        </p:nvSpPr>
        <p:spPr>
          <a:xfrm>
            <a:off x="0" y="0"/>
            <a:ext cx="12192000" cy="1050758"/>
          </a:xfrm>
        </p:spPr>
        <p:txBody>
          <a:bodyPr rtlCol="0"/>
          <a:lstStyle/>
          <a:p>
            <a:pPr rtl="0"/>
            <a:r>
              <a:rPr lang="es-ES" dirty="0">
                <a:solidFill>
                  <a:srgbClr val="C00000"/>
                </a:solidFill>
              </a:rPr>
              <a:t>ANÁLISIS</a:t>
            </a:r>
            <a:r>
              <a:rPr lang="es-ES" dirty="0"/>
              <a:t> </a:t>
            </a:r>
            <a:r>
              <a:rPr lang="es-ES" dirty="0">
                <a:solidFill>
                  <a:srgbClr val="C00000"/>
                </a:solidFill>
              </a:rPr>
              <a:t>DESCRIPTIVO</a:t>
            </a:r>
          </a:p>
        </p:txBody>
      </p:sp>
      <p:sp>
        <p:nvSpPr>
          <p:cNvPr id="2" name="Marcador de número de diapositiva 1">
            <a:extLst>
              <a:ext uri="{FF2B5EF4-FFF2-40B4-BE49-F238E27FC236}">
                <a16:creationId xmlns:a16="http://schemas.microsoft.com/office/drawing/2014/main" id="{00268AAA-2871-5FFA-CBBB-F08089EFA33B}"/>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lumMod val="65000"/>
                    <a:lumOff val="35000"/>
                  </a:schemeClr>
                </a:solidFill>
              </a:rPr>
              <a:pPr rtl="0"/>
              <a:t>6</a:t>
            </a:fld>
            <a:endParaRPr lang="es-ES">
              <a:solidFill>
                <a:schemeClr val="tx1">
                  <a:lumMod val="65000"/>
                  <a:lumOff val="35000"/>
                </a:schemeClr>
              </a:solidFill>
            </a:endParaRPr>
          </a:p>
        </p:txBody>
      </p:sp>
      <p:pic>
        <p:nvPicPr>
          <p:cNvPr id="6" name="Imagen 5">
            <a:extLst>
              <a:ext uri="{FF2B5EF4-FFF2-40B4-BE49-F238E27FC236}">
                <a16:creationId xmlns:a16="http://schemas.microsoft.com/office/drawing/2014/main" id="{892451E3-5AED-530B-35E6-0A4ACED54107}"/>
              </a:ext>
            </a:extLst>
          </p:cNvPr>
          <p:cNvPicPr>
            <a:picLocks noChangeAspect="1"/>
          </p:cNvPicPr>
          <p:nvPr/>
        </p:nvPicPr>
        <p:blipFill>
          <a:blip r:embed="rId3"/>
          <a:stretch>
            <a:fillRect/>
          </a:stretch>
        </p:blipFill>
        <p:spPr>
          <a:xfrm>
            <a:off x="4794251" y="1723171"/>
            <a:ext cx="6829506" cy="3411657"/>
          </a:xfrm>
          <a:prstGeom prst="rect">
            <a:avLst/>
          </a:prstGeom>
        </p:spPr>
      </p:pic>
      <p:graphicFrame>
        <p:nvGraphicFramePr>
          <p:cNvPr id="11" name="Tabla 10">
            <a:extLst>
              <a:ext uri="{FF2B5EF4-FFF2-40B4-BE49-F238E27FC236}">
                <a16:creationId xmlns:a16="http://schemas.microsoft.com/office/drawing/2014/main" id="{71644092-68C8-A991-98BC-231448C95DE1}"/>
              </a:ext>
            </a:extLst>
          </p:cNvPr>
          <p:cNvGraphicFramePr>
            <a:graphicFrameLocks noGrp="1"/>
          </p:cNvGraphicFramePr>
          <p:nvPr>
            <p:extLst>
              <p:ext uri="{D42A27DB-BD31-4B8C-83A1-F6EECF244321}">
                <p14:modId xmlns:p14="http://schemas.microsoft.com/office/powerpoint/2010/main" val="2651606834"/>
              </p:ext>
            </p:extLst>
          </p:nvPr>
        </p:nvGraphicFramePr>
        <p:xfrm>
          <a:off x="432776" y="1380740"/>
          <a:ext cx="4283157" cy="5212080"/>
        </p:xfrm>
        <a:graphic>
          <a:graphicData uri="http://schemas.openxmlformats.org/drawingml/2006/table">
            <a:tbl>
              <a:tblPr firstRow="1">
                <a:tableStyleId>{5C22544A-7EE6-4342-B048-85BDC9FD1C3A}</a:tableStyleId>
              </a:tblPr>
              <a:tblGrid>
                <a:gridCol w="4283157">
                  <a:extLst>
                    <a:ext uri="{9D8B030D-6E8A-4147-A177-3AD203B41FA5}">
                      <a16:colId xmlns:a16="http://schemas.microsoft.com/office/drawing/2014/main" val="2203408343"/>
                    </a:ext>
                  </a:extLst>
                </a:gridCol>
              </a:tblGrid>
              <a:tr h="437441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a:solidFill>
                            <a:schemeClr val="tx1"/>
                          </a:solidFill>
                        </a:rPr>
                        <a:t>Age: </a:t>
                      </a:r>
                      <a:r>
                        <a:rPr lang="es-ES" sz="1050" b="0" spc="0" baseline="0" dirty="0">
                          <a:solidFill>
                            <a:schemeClr val="tx1"/>
                          </a:solidFill>
                        </a:rPr>
                        <a:t>la edad promedio es bastante similar para ambos grupos ("sí" y "no"), lo que indica que la variable podría no tener un fuerte impacto en la probabilidad de realizar un depósito.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a:solidFill>
                            <a:schemeClr val="tx1"/>
                          </a:solidFill>
                        </a:rPr>
                        <a:t>Balance</a:t>
                      </a:r>
                      <a:r>
                        <a:rPr lang="es-ES" sz="1050" b="0" spc="0" baseline="0" dirty="0">
                          <a:solidFill>
                            <a:schemeClr val="tx1"/>
                          </a:solidFill>
                        </a:rPr>
                        <a:t>: las personas que hicieron un depósito ("sí") generalmente tienen un saldo promedio más alto que aquellos que no lo hicieron ("no"), lo que sugiere que un saldo más alto podría estar asociado positivamente con la realización de un depósito.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a:solidFill>
                            <a:schemeClr val="tx1"/>
                          </a:solidFill>
                        </a:rPr>
                        <a:t>Day</a:t>
                      </a:r>
                      <a:r>
                        <a:rPr lang="es-ES" sz="1050" b="0" spc="0" baseline="0" dirty="0">
                          <a:solidFill>
                            <a:schemeClr val="tx1"/>
                          </a:solidFill>
                        </a:rPr>
                        <a:t>: el día promedio es bastante similar para ambos grupos ("sí" y "no"), se observa que el día en que se realizó el último contacto podría no tener un fuerte impacto en la probabilidad de realizar un depósito.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Duration</a:t>
                      </a:r>
                      <a:r>
                        <a:rPr lang="es-ES" sz="1050" b="0" spc="0" baseline="0" dirty="0">
                          <a:solidFill>
                            <a:schemeClr val="tx1"/>
                          </a:solidFill>
                        </a:rPr>
                        <a:t>: la duración es significativamente mayor para quienes realizaron un depósito. Esto implica que una duración de contacto más larga podría estar fuertemente asociada con un depósito exitoso.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Campaign</a:t>
                      </a:r>
                      <a:r>
                        <a:rPr lang="es-ES" sz="1050" b="0" spc="0" baseline="0" dirty="0">
                          <a:solidFill>
                            <a:schemeClr val="tx1"/>
                          </a:solidFill>
                        </a:rPr>
                        <a:t>: las personas que no hicieron un depósito fueron contactadas más veces en promedio que aquellas que sí lo hicieron, lo que indica que los intentos de contacto excesivos pueden reducir las posibilidades de realizar un depósito.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Pdays</a:t>
                      </a:r>
                      <a:r>
                        <a:rPr lang="es-ES" sz="1050" b="0" spc="0" baseline="0" dirty="0">
                          <a:solidFill>
                            <a:schemeClr val="tx1"/>
                          </a:solidFill>
                        </a:rPr>
                        <a:t>: el promedio de "</a:t>
                      </a:r>
                      <a:r>
                        <a:rPr lang="es-ES" sz="1050" b="0" spc="0" baseline="0" dirty="0" err="1">
                          <a:solidFill>
                            <a:schemeClr val="tx1"/>
                          </a:solidFill>
                        </a:rPr>
                        <a:t>pdays</a:t>
                      </a:r>
                      <a:r>
                        <a:rPr lang="es-ES" sz="1050" b="0" spc="0" baseline="0" dirty="0">
                          <a:solidFill>
                            <a:schemeClr val="tx1"/>
                          </a:solidFill>
                        </a:rPr>
                        <a:t>" (días desde el último contacto en una campaña anterior) es mayor para aquellos que hicieron un depósito, lo que sugiere que los contactos recientes en campañas anteriores podrían afectar negativamente la probabilidad de un depósito.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Previous</a:t>
                      </a:r>
                      <a:r>
                        <a:rPr lang="es-ES" sz="1050" b="0" spc="0" baseline="0" dirty="0">
                          <a:solidFill>
                            <a:schemeClr val="tx1"/>
                          </a:solidFill>
                        </a:rPr>
                        <a:t>: aquellos que hicieron un depósito tuvieron en promedio un poco más alto de contactos previos que aquellos que no lo hicieron, lo que implica una leve asociación entre el compromiso previo y los depósitos exitosos.</a:t>
                      </a:r>
                      <a:endParaRPr lang="es" sz="1050" b="0" spc="0" baseline="0" dirty="0">
                        <a:solidFill>
                          <a:schemeClr val="tx1"/>
                        </a:solidFill>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5060090"/>
                  </a:ext>
                </a:extLst>
              </a:tr>
            </a:tbl>
          </a:graphicData>
        </a:graphic>
      </p:graphicFrame>
      <p:sp>
        <p:nvSpPr>
          <p:cNvPr id="15" name="Rectángulo 14">
            <a:extLst>
              <a:ext uri="{FF2B5EF4-FFF2-40B4-BE49-F238E27FC236}">
                <a16:creationId xmlns:a16="http://schemas.microsoft.com/office/drawing/2014/main" id="{FC97DB5B-0074-FEFF-B542-0E48F37F5561}"/>
              </a:ext>
            </a:extLst>
          </p:cNvPr>
          <p:cNvSpPr/>
          <p:nvPr/>
        </p:nvSpPr>
        <p:spPr>
          <a:xfrm>
            <a:off x="0" y="850848"/>
            <a:ext cx="3767667"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uadroTexto 15">
            <a:extLst>
              <a:ext uri="{FF2B5EF4-FFF2-40B4-BE49-F238E27FC236}">
                <a16:creationId xmlns:a16="http://schemas.microsoft.com/office/drawing/2014/main" id="{C52519FD-46BE-185C-98EC-820DEFD3C9ED}"/>
              </a:ext>
            </a:extLst>
          </p:cNvPr>
          <p:cNvSpPr txBox="1"/>
          <p:nvPr/>
        </p:nvSpPr>
        <p:spPr>
          <a:xfrm>
            <a:off x="160866" y="914627"/>
            <a:ext cx="3767667" cy="584775"/>
          </a:xfrm>
          <a:prstGeom prst="rect">
            <a:avLst/>
          </a:prstGeom>
          <a:noFill/>
        </p:spPr>
        <p:txBody>
          <a:bodyPr wrap="square" rtlCol="0">
            <a:spAutoFit/>
          </a:bodyPr>
          <a:lstStyle/>
          <a:p>
            <a:r>
              <a:rPr lang="es-CO" sz="1600" b="1" dirty="0">
                <a:solidFill>
                  <a:srgbClr val="C00000"/>
                </a:solidFill>
              </a:rPr>
              <a:t>Variables Numéricas vs Depósito</a:t>
            </a:r>
          </a:p>
          <a:p>
            <a:endParaRPr lang="es-CO" sz="1600" b="1" dirty="0">
              <a:solidFill>
                <a:srgbClr val="C00000"/>
              </a:solidFill>
            </a:endParaRPr>
          </a:p>
        </p:txBody>
      </p:sp>
      <p:pic>
        <p:nvPicPr>
          <p:cNvPr id="17" name="Picture 2" descr="Datecsa - Banco de Alimentos Cali">
            <a:extLst>
              <a:ext uri="{FF2B5EF4-FFF2-40B4-BE49-F238E27FC236}">
                <a16:creationId xmlns:a16="http://schemas.microsoft.com/office/drawing/2014/main" id="{01730EB2-AE82-FC3B-9555-CA60A91A6F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588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8789-78E3-CC9E-5E30-EDB0B8BA3120}"/>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433B5667-D58D-FDC4-0088-3F95860F7E63}"/>
              </a:ext>
            </a:extLst>
          </p:cNvPr>
          <p:cNvSpPr>
            <a:spLocks noGrp="1"/>
          </p:cNvSpPr>
          <p:nvPr>
            <p:ph type="title"/>
          </p:nvPr>
        </p:nvSpPr>
        <p:spPr>
          <a:xfrm>
            <a:off x="0" y="0"/>
            <a:ext cx="12192000" cy="1050758"/>
          </a:xfrm>
        </p:spPr>
        <p:txBody>
          <a:bodyPr rtlCol="0"/>
          <a:lstStyle/>
          <a:p>
            <a:pPr rtl="0"/>
            <a:r>
              <a:rPr lang="es-ES" dirty="0">
                <a:solidFill>
                  <a:srgbClr val="C00000"/>
                </a:solidFill>
              </a:rPr>
              <a:t>ANÁLISIS DESCRIPTIVO</a:t>
            </a:r>
          </a:p>
        </p:txBody>
      </p:sp>
      <p:sp>
        <p:nvSpPr>
          <p:cNvPr id="2" name="Marcador de número de diapositiva 1">
            <a:extLst>
              <a:ext uri="{FF2B5EF4-FFF2-40B4-BE49-F238E27FC236}">
                <a16:creationId xmlns:a16="http://schemas.microsoft.com/office/drawing/2014/main" id="{03CCDD35-2FFC-4363-1E1A-BBE54FFC9F46}"/>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solidFill>
              </a:rPr>
              <a:pPr rtl="0"/>
              <a:t>7</a:t>
            </a:fld>
            <a:endParaRPr lang="es-ES" dirty="0">
              <a:solidFill>
                <a:schemeClr val="tx1"/>
              </a:solidFill>
            </a:endParaRPr>
          </a:p>
        </p:txBody>
      </p:sp>
      <p:pic>
        <p:nvPicPr>
          <p:cNvPr id="5" name="Imagen 4">
            <a:extLst>
              <a:ext uri="{FF2B5EF4-FFF2-40B4-BE49-F238E27FC236}">
                <a16:creationId xmlns:a16="http://schemas.microsoft.com/office/drawing/2014/main" id="{97D2A882-AE90-6752-9E62-C68D123AF42C}"/>
              </a:ext>
            </a:extLst>
          </p:cNvPr>
          <p:cNvPicPr>
            <a:picLocks noChangeAspect="1"/>
          </p:cNvPicPr>
          <p:nvPr/>
        </p:nvPicPr>
        <p:blipFill>
          <a:blip r:embed="rId3"/>
          <a:stretch>
            <a:fillRect/>
          </a:stretch>
        </p:blipFill>
        <p:spPr>
          <a:xfrm>
            <a:off x="4264750" y="1638212"/>
            <a:ext cx="7409520" cy="3683179"/>
          </a:xfrm>
          <a:prstGeom prst="rect">
            <a:avLst/>
          </a:prstGeom>
        </p:spPr>
      </p:pic>
      <p:graphicFrame>
        <p:nvGraphicFramePr>
          <p:cNvPr id="7" name="Tabla 6">
            <a:extLst>
              <a:ext uri="{FF2B5EF4-FFF2-40B4-BE49-F238E27FC236}">
                <a16:creationId xmlns:a16="http://schemas.microsoft.com/office/drawing/2014/main" id="{91103C94-629C-1F53-5C33-AF76AA2AF6D7}"/>
              </a:ext>
            </a:extLst>
          </p:cNvPr>
          <p:cNvGraphicFramePr>
            <a:graphicFrameLocks noGrp="1"/>
          </p:cNvGraphicFramePr>
          <p:nvPr>
            <p:extLst>
              <p:ext uri="{D42A27DB-BD31-4B8C-83A1-F6EECF244321}">
                <p14:modId xmlns:p14="http://schemas.microsoft.com/office/powerpoint/2010/main" val="3350372542"/>
              </p:ext>
            </p:extLst>
          </p:nvPr>
        </p:nvGraphicFramePr>
        <p:xfrm>
          <a:off x="407355" y="1952408"/>
          <a:ext cx="3577994" cy="2651760"/>
        </p:xfrm>
        <a:graphic>
          <a:graphicData uri="http://schemas.openxmlformats.org/drawingml/2006/table">
            <a:tbl>
              <a:tblPr firstRow="1">
                <a:tableStyleId>{5C22544A-7EE6-4342-B048-85BDC9FD1C3A}</a:tableStyleId>
              </a:tblPr>
              <a:tblGrid>
                <a:gridCol w="3577994">
                  <a:extLst>
                    <a:ext uri="{9D8B030D-6E8A-4147-A177-3AD203B41FA5}">
                      <a16:colId xmlns:a16="http://schemas.microsoft.com/office/drawing/2014/main" val="2203408343"/>
                    </a:ext>
                  </a:extLst>
                </a:gridCol>
              </a:tblGrid>
              <a:tr h="1044796">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spc="0" baseline="0" dirty="0">
                          <a:solidFill>
                            <a:schemeClr val="tx1"/>
                          </a:solidFill>
                        </a:rPr>
                        <a:t>Job</a:t>
                      </a:r>
                      <a:r>
                        <a:rPr lang="es-ES" sz="1050" b="0" spc="0" baseline="0" dirty="0">
                          <a:solidFill>
                            <a:schemeClr val="tx1"/>
                          </a:solidFill>
                        </a:rPr>
                        <a:t>: Los trabajos más comunes son obreros, administrativos y técnicos, mientras que roles como estudiante y autónomo son menos comunes.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spc="0" baseline="0" dirty="0">
                          <a:solidFill>
                            <a:schemeClr val="tx1"/>
                          </a:solidFill>
                        </a:rPr>
                        <a:t>Marital</a:t>
                      </a:r>
                      <a:r>
                        <a:rPr lang="es-ES" sz="1050" b="0" spc="0" baseline="0" dirty="0">
                          <a:solidFill>
                            <a:schemeClr val="tx1"/>
                          </a:solidFill>
                        </a:rPr>
                        <a:t>: la mayoría de las personas están casadas, seguidas de las solteras y una porción más pequeña están divorciadas.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spc="0" baseline="0" dirty="0" err="1">
                          <a:solidFill>
                            <a:schemeClr val="tx1"/>
                          </a:solidFill>
                        </a:rPr>
                        <a:t>Education</a:t>
                      </a:r>
                      <a:r>
                        <a:rPr lang="es-ES" sz="1050" b="0" spc="0" baseline="0" dirty="0">
                          <a:solidFill>
                            <a:schemeClr val="tx1"/>
                          </a:solidFill>
                        </a:rPr>
                        <a:t>: La educación secundaria es la más común, seguida de la educación terciaria y primaria, con un pequeño número de personas en la categoría desconocida.</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50" b="1" spc="0" baseline="0" dirty="0" err="1">
                          <a:solidFill>
                            <a:schemeClr val="tx1"/>
                          </a:solidFill>
                        </a:rPr>
                        <a:t>Contact</a:t>
                      </a:r>
                      <a:r>
                        <a:rPr lang="es-ES" sz="1050" b="0" spc="0" baseline="0" dirty="0">
                          <a:solidFill>
                            <a:schemeClr val="tx1"/>
                          </a:solidFill>
                        </a:rPr>
                        <a:t>: El contacto celular es el método más utilizado, seguido del desconocido, siendo el teléfono fijo el menos común.</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8" name="Rectángulo 7">
            <a:extLst>
              <a:ext uri="{FF2B5EF4-FFF2-40B4-BE49-F238E27FC236}">
                <a16:creationId xmlns:a16="http://schemas.microsoft.com/office/drawing/2014/main" id="{6BB5E022-4352-9F57-CDF1-094F3F52ADB6}"/>
              </a:ext>
            </a:extLst>
          </p:cNvPr>
          <p:cNvSpPr/>
          <p:nvPr/>
        </p:nvSpPr>
        <p:spPr>
          <a:xfrm>
            <a:off x="0" y="850848"/>
            <a:ext cx="3767667"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8D9E2424-952F-BC52-F0F3-735DDDEEA65C}"/>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Distribución Variables Categóricas</a:t>
            </a:r>
          </a:p>
        </p:txBody>
      </p:sp>
      <p:pic>
        <p:nvPicPr>
          <p:cNvPr id="10" name="Picture 2" descr="Datecsa - Banco de Alimentos Cali">
            <a:extLst>
              <a:ext uri="{FF2B5EF4-FFF2-40B4-BE49-F238E27FC236}">
                <a16:creationId xmlns:a16="http://schemas.microsoft.com/office/drawing/2014/main" id="{BA34F1C9-1FF6-C759-2C01-92DE1964F2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5559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88CA1-8589-FCE0-FE31-684A500F7C6B}"/>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1A58705B-089F-3427-35E3-A0CA67B39F3E}"/>
              </a:ext>
            </a:extLst>
          </p:cNvPr>
          <p:cNvSpPr>
            <a:spLocks noGrp="1"/>
          </p:cNvSpPr>
          <p:nvPr>
            <p:ph type="title"/>
          </p:nvPr>
        </p:nvSpPr>
        <p:spPr>
          <a:xfrm>
            <a:off x="0" y="0"/>
            <a:ext cx="12192000" cy="1050758"/>
          </a:xfrm>
        </p:spPr>
        <p:txBody>
          <a:bodyPr rtlCol="0"/>
          <a:lstStyle/>
          <a:p>
            <a:pPr rtl="0"/>
            <a:r>
              <a:rPr lang="es-ES" dirty="0">
                <a:solidFill>
                  <a:srgbClr val="C00000"/>
                </a:solidFill>
              </a:rPr>
              <a:t>ANÁLISIS DESCRIPTIVO</a:t>
            </a:r>
          </a:p>
        </p:txBody>
      </p:sp>
      <p:sp>
        <p:nvSpPr>
          <p:cNvPr id="2" name="Marcador de número de diapositiva 1">
            <a:extLst>
              <a:ext uri="{FF2B5EF4-FFF2-40B4-BE49-F238E27FC236}">
                <a16:creationId xmlns:a16="http://schemas.microsoft.com/office/drawing/2014/main" id="{40C78FB8-9C06-1270-8878-7DA63B6C59A8}"/>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pPr rtl="0"/>
              <a:t>8</a:t>
            </a:fld>
            <a:endParaRPr lang="es-ES"/>
          </a:p>
        </p:txBody>
      </p:sp>
      <p:pic>
        <p:nvPicPr>
          <p:cNvPr id="6" name="Imagen 5">
            <a:extLst>
              <a:ext uri="{FF2B5EF4-FFF2-40B4-BE49-F238E27FC236}">
                <a16:creationId xmlns:a16="http://schemas.microsoft.com/office/drawing/2014/main" id="{D4ECCBF4-658B-C12B-0F4B-CF938989F85E}"/>
              </a:ext>
            </a:extLst>
          </p:cNvPr>
          <p:cNvPicPr>
            <a:picLocks noChangeAspect="1"/>
          </p:cNvPicPr>
          <p:nvPr/>
        </p:nvPicPr>
        <p:blipFill>
          <a:blip r:embed="rId3"/>
          <a:stretch>
            <a:fillRect/>
          </a:stretch>
        </p:blipFill>
        <p:spPr>
          <a:xfrm>
            <a:off x="4598665" y="1080713"/>
            <a:ext cx="6543388" cy="5235950"/>
          </a:xfrm>
          <a:prstGeom prst="rect">
            <a:avLst/>
          </a:prstGeom>
        </p:spPr>
      </p:pic>
      <p:graphicFrame>
        <p:nvGraphicFramePr>
          <p:cNvPr id="7" name="Tabla 6">
            <a:extLst>
              <a:ext uri="{FF2B5EF4-FFF2-40B4-BE49-F238E27FC236}">
                <a16:creationId xmlns:a16="http://schemas.microsoft.com/office/drawing/2014/main" id="{CEE3F01F-F4F3-FF24-D7D7-4A53B74282C5}"/>
              </a:ext>
            </a:extLst>
          </p:cNvPr>
          <p:cNvGraphicFramePr>
            <a:graphicFrameLocks noGrp="1"/>
          </p:cNvGraphicFramePr>
          <p:nvPr>
            <p:extLst>
              <p:ext uri="{D42A27DB-BD31-4B8C-83A1-F6EECF244321}">
                <p14:modId xmlns:p14="http://schemas.microsoft.com/office/powerpoint/2010/main" val="1043667399"/>
              </p:ext>
            </p:extLst>
          </p:nvPr>
        </p:nvGraphicFramePr>
        <p:xfrm>
          <a:off x="567267" y="1703070"/>
          <a:ext cx="3754376" cy="3451860"/>
        </p:xfrm>
        <a:graphic>
          <a:graphicData uri="http://schemas.openxmlformats.org/drawingml/2006/table">
            <a:tbl>
              <a:tblPr firstRow="1">
                <a:tableStyleId>{5C22544A-7EE6-4342-B048-85BDC9FD1C3A}</a:tableStyleId>
              </a:tblPr>
              <a:tblGrid>
                <a:gridCol w="3754376">
                  <a:extLst>
                    <a:ext uri="{9D8B030D-6E8A-4147-A177-3AD203B41FA5}">
                      <a16:colId xmlns:a16="http://schemas.microsoft.com/office/drawing/2014/main" val="2203408343"/>
                    </a:ext>
                  </a:extLst>
                </a:gridCol>
              </a:tblGrid>
              <a:tr h="104479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Month</a:t>
                      </a:r>
                      <a:r>
                        <a:rPr lang="es-ES" sz="1050" b="0" spc="0" baseline="0" dirty="0">
                          <a:solidFill>
                            <a:schemeClr val="tx1"/>
                          </a:solidFill>
                        </a:rPr>
                        <a:t>: la mayoría de los contactos ocurrieron en mayo, siendo otros meses activos julio, agosto y junio. El menor número de contactos se produjo en diciembre.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Poutcome</a:t>
                      </a:r>
                      <a:r>
                        <a:rPr lang="es-ES" sz="1050" b="0" spc="0" baseline="0" dirty="0">
                          <a:solidFill>
                            <a:schemeClr val="tx1"/>
                          </a:solidFill>
                        </a:rPr>
                        <a:t>: Se desconocen la mayoría de los resultados de las campañas anteriores. Entre los resultados conocidos, el fracaso es más común que el éxito u otros resultados.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a:solidFill>
                            <a:schemeClr val="tx1"/>
                          </a:solidFill>
                        </a:rPr>
                        <a:t>Default</a:t>
                      </a:r>
                      <a:r>
                        <a:rPr lang="es-ES" sz="1050" b="0" spc="0" baseline="0" dirty="0">
                          <a:solidFill>
                            <a:schemeClr val="tx1"/>
                          </a:solidFill>
                        </a:rPr>
                        <a:t>: muy pocas personas tienen un incumplimiento crediticio, ya que la mayoría están marcados como "no".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Housing</a:t>
                      </a:r>
                      <a:r>
                        <a:rPr lang="es-ES" sz="1050" b="0" spc="0" baseline="0" dirty="0">
                          <a:solidFill>
                            <a:schemeClr val="tx1"/>
                          </a:solidFill>
                        </a:rPr>
                        <a:t>: La distribución entre quienes tienen préstamos para vivienda y quienes no los tienen es bastante pareja, un poco por encima los que "si".</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a:solidFill>
                            <a:schemeClr val="tx1"/>
                          </a:solidFill>
                        </a:rPr>
                        <a:t>Loan</a:t>
                      </a:r>
                      <a:r>
                        <a:rPr lang="es-ES" sz="1050" b="0" spc="0" baseline="0" dirty="0">
                          <a:solidFill>
                            <a:schemeClr val="tx1"/>
                          </a:solidFill>
                        </a:rPr>
                        <a:t>: la mayoría de las personas no tienen un préstamo personal y solo una pequeña parte está marcada como “sí”.</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050" b="0" spc="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050" b="1" spc="0" baseline="0" dirty="0" err="1">
                          <a:solidFill>
                            <a:schemeClr val="tx1"/>
                          </a:solidFill>
                        </a:rPr>
                        <a:t>Deposit</a:t>
                      </a:r>
                      <a:r>
                        <a:rPr lang="es-ES" sz="1050" b="0" spc="0" baseline="0" dirty="0">
                          <a:solidFill>
                            <a:schemeClr val="tx1"/>
                          </a:solidFill>
                        </a:rPr>
                        <a:t>: La distribución muestra una división desbalanceada entre las personas que hicieron y las que no hicieron un depósito.</a:t>
                      </a:r>
                      <a:endParaRPr lang="es" sz="1050" b="0" spc="0" baseline="0" dirty="0">
                        <a:solidFill>
                          <a:schemeClr val="tx1"/>
                        </a:solidFill>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8" name="Rectángulo 7">
            <a:extLst>
              <a:ext uri="{FF2B5EF4-FFF2-40B4-BE49-F238E27FC236}">
                <a16:creationId xmlns:a16="http://schemas.microsoft.com/office/drawing/2014/main" id="{EF2A9894-870E-3FAF-6C99-249A59C8ADC9}"/>
              </a:ext>
            </a:extLst>
          </p:cNvPr>
          <p:cNvSpPr/>
          <p:nvPr/>
        </p:nvSpPr>
        <p:spPr>
          <a:xfrm>
            <a:off x="0" y="850848"/>
            <a:ext cx="3767667"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4AB67B2F-4FA2-7B38-B01D-689D52268A4D}"/>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Distribución Variables Categóricas</a:t>
            </a:r>
          </a:p>
        </p:txBody>
      </p:sp>
      <p:pic>
        <p:nvPicPr>
          <p:cNvPr id="10" name="Picture 2" descr="Datecsa - Banco de Alimentos Cali">
            <a:extLst>
              <a:ext uri="{FF2B5EF4-FFF2-40B4-BE49-F238E27FC236}">
                <a16:creationId xmlns:a16="http://schemas.microsoft.com/office/drawing/2014/main" id="{A306B34B-111E-A777-4858-A99046B394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569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EDF0A-5218-B555-ED16-8431FED416D9}"/>
            </a:ext>
          </a:extLst>
        </p:cNvPr>
        <p:cNvGrpSpPr/>
        <p:nvPr/>
      </p:nvGrpSpPr>
      <p:grpSpPr>
        <a:xfrm>
          <a:off x="0" y="0"/>
          <a:ext cx="0" cy="0"/>
          <a:chOff x="0" y="0"/>
          <a:chExt cx="0" cy="0"/>
        </a:xfrm>
      </p:grpSpPr>
      <p:sp>
        <p:nvSpPr>
          <p:cNvPr id="17" name="Rectángulo: esquinas redondeadas 16">
            <a:extLst>
              <a:ext uri="{FF2B5EF4-FFF2-40B4-BE49-F238E27FC236}">
                <a16:creationId xmlns:a16="http://schemas.microsoft.com/office/drawing/2014/main" id="{CAE4ECD6-B4DC-2852-9DF4-1DDB05E2648B}"/>
              </a:ext>
            </a:extLst>
          </p:cNvPr>
          <p:cNvSpPr/>
          <p:nvPr/>
        </p:nvSpPr>
        <p:spPr>
          <a:xfrm>
            <a:off x="7325360" y="3925767"/>
            <a:ext cx="4004990" cy="251985"/>
          </a:xfrm>
          <a:prstGeom prst="round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Rectángulo: esquinas redondeadas 15">
            <a:extLst>
              <a:ext uri="{FF2B5EF4-FFF2-40B4-BE49-F238E27FC236}">
                <a16:creationId xmlns:a16="http://schemas.microsoft.com/office/drawing/2014/main" id="{43EAF335-C314-0FAC-7E91-76916303D6E6}"/>
              </a:ext>
            </a:extLst>
          </p:cNvPr>
          <p:cNvSpPr/>
          <p:nvPr/>
        </p:nvSpPr>
        <p:spPr>
          <a:xfrm>
            <a:off x="7325360" y="1534870"/>
            <a:ext cx="4004990" cy="251985"/>
          </a:xfrm>
          <a:prstGeom prst="round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13" name="Tabla 12">
            <a:extLst>
              <a:ext uri="{FF2B5EF4-FFF2-40B4-BE49-F238E27FC236}">
                <a16:creationId xmlns:a16="http://schemas.microsoft.com/office/drawing/2014/main" id="{7F9BE226-2830-B4F1-AFAB-F0B46DACDE7C}"/>
              </a:ext>
            </a:extLst>
          </p:cNvPr>
          <p:cNvGraphicFramePr>
            <a:graphicFrameLocks noGrp="1"/>
          </p:cNvGraphicFramePr>
          <p:nvPr>
            <p:extLst>
              <p:ext uri="{D42A27DB-BD31-4B8C-83A1-F6EECF244321}">
                <p14:modId xmlns:p14="http://schemas.microsoft.com/office/powerpoint/2010/main" val="3943882641"/>
              </p:ext>
            </p:extLst>
          </p:nvPr>
        </p:nvGraphicFramePr>
        <p:xfrm>
          <a:off x="7394786" y="1534870"/>
          <a:ext cx="3935564" cy="4297680"/>
        </p:xfrm>
        <a:graphic>
          <a:graphicData uri="http://schemas.openxmlformats.org/drawingml/2006/table">
            <a:tbl>
              <a:tblPr firstRow="1">
                <a:tableStyleId>{5C22544A-7EE6-4342-B048-85BDC9FD1C3A}</a:tableStyleId>
              </a:tblPr>
              <a:tblGrid>
                <a:gridCol w="3935564">
                  <a:extLst>
                    <a:ext uri="{9D8B030D-6E8A-4147-A177-3AD203B41FA5}">
                      <a16:colId xmlns:a16="http://schemas.microsoft.com/office/drawing/2014/main" val="2203408343"/>
                    </a:ext>
                  </a:extLst>
                </a:gridCol>
              </a:tblGrid>
              <a:tr h="1044796">
                <a:tc>
                  <a:txBody>
                    <a:bodyPr/>
                    <a:lstStyle/>
                    <a:p>
                      <a:pPr marL="0" indent="0" algn="just">
                        <a:buFont typeface="Arial" panose="020B0604020202020204" pitchFamily="34" charset="0"/>
                        <a:buNone/>
                      </a:pPr>
                      <a:r>
                        <a:rPr lang="es-ES" sz="1200" b="1" dirty="0">
                          <a:solidFill>
                            <a:schemeClr val="bg1"/>
                          </a:solidFill>
                        </a:rPr>
                        <a:t>Variables fuertemente correlacionadas: </a:t>
                      </a:r>
                    </a:p>
                    <a:p>
                      <a:pPr marL="0" indent="0" algn="just">
                        <a:buFont typeface="Arial" panose="020B0604020202020204" pitchFamily="34" charset="0"/>
                        <a:buNone/>
                      </a:pPr>
                      <a:endParaRPr lang="es-ES" sz="1200" b="0" dirty="0">
                        <a:solidFill>
                          <a:schemeClr val="tx1"/>
                        </a:solidFill>
                      </a:endParaRPr>
                    </a:p>
                    <a:p>
                      <a:pPr marL="0" indent="0" algn="just">
                        <a:buFontTx/>
                        <a:buNone/>
                      </a:pPr>
                      <a:r>
                        <a:rPr lang="es-ES" sz="1200" b="1" i="1" dirty="0" err="1">
                          <a:solidFill>
                            <a:schemeClr val="tx1"/>
                          </a:solidFill>
                        </a:rPr>
                        <a:t>pdays</a:t>
                      </a:r>
                      <a:r>
                        <a:rPr lang="es-ES" sz="1200" b="1" i="1" dirty="0">
                          <a:solidFill>
                            <a:schemeClr val="tx1"/>
                          </a:solidFill>
                        </a:rPr>
                        <a:t> y </a:t>
                      </a:r>
                      <a:r>
                        <a:rPr lang="es-ES" sz="1200" b="1" i="1" dirty="0" err="1">
                          <a:solidFill>
                            <a:schemeClr val="tx1"/>
                          </a:solidFill>
                        </a:rPr>
                        <a:t>previous</a:t>
                      </a:r>
                      <a:r>
                        <a:rPr lang="es-ES" sz="1200" b="0" dirty="0">
                          <a:solidFill>
                            <a:schemeClr val="tx1"/>
                          </a:solidFill>
                        </a:rPr>
                        <a:t>: Presentan una correlación positiva muy fuerte. Esto sugiere que el número de días que pasaron desde el último contacto y el número de contactos anteriores están muy relacionados.</a:t>
                      </a:r>
                    </a:p>
                    <a:p>
                      <a:pPr marL="0" indent="0" algn="just">
                        <a:buFontTx/>
                        <a:buNone/>
                      </a:pPr>
                      <a:endParaRPr lang="es-ES" sz="1200" b="0" dirty="0">
                        <a:solidFill>
                          <a:schemeClr val="tx1"/>
                        </a:solidFill>
                      </a:endParaRPr>
                    </a:p>
                    <a:p>
                      <a:pPr marL="0" indent="0" algn="just">
                        <a:buFont typeface="Arial" panose="020B0604020202020204" pitchFamily="34" charset="0"/>
                        <a:buNone/>
                      </a:pPr>
                      <a:r>
                        <a:rPr lang="es-ES" sz="1200" b="1" i="1" dirty="0" err="1">
                          <a:solidFill>
                            <a:schemeClr val="tx1"/>
                          </a:solidFill>
                        </a:rPr>
                        <a:t>poutcome</a:t>
                      </a:r>
                      <a:r>
                        <a:rPr lang="es-ES" sz="1200" b="1" i="1" dirty="0">
                          <a:solidFill>
                            <a:schemeClr val="tx1"/>
                          </a:solidFill>
                        </a:rPr>
                        <a:t> y las variables </a:t>
                      </a:r>
                      <a:r>
                        <a:rPr lang="es-ES" sz="1200" b="1" i="1" dirty="0" err="1">
                          <a:solidFill>
                            <a:schemeClr val="tx1"/>
                          </a:solidFill>
                        </a:rPr>
                        <a:t>pdays</a:t>
                      </a:r>
                      <a:r>
                        <a:rPr lang="es-ES" sz="1200" b="1" i="1" dirty="0">
                          <a:solidFill>
                            <a:schemeClr val="tx1"/>
                          </a:solidFill>
                        </a:rPr>
                        <a:t> y </a:t>
                      </a:r>
                      <a:r>
                        <a:rPr lang="es-ES" sz="1200" b="1" i="1" dirty="0" err="1">
                          <a:solidFill>
                            <a:schemeClr val="tx1"/>
                          </a:solidFill>
                        </a:rPr>
                        <a:t>previous</a:t>
                      </a:r>
                      <a:r>
                        <a:rPr lang="es-ES" sz="1200" b="0" dirty="0">
                          <a:solidFill>
                            <a:schemeClr val="tx1"/>
                          </a:solidFill>
                        </a:rPr>
                        <a:t>: También muestran correlaciones muy fuertes, lo que indica que el resultado del último contacto está estrechamente ligado al tiempo transcurrido desde ese contacto y al número de contactos anteriores.</a:t>
                      </a:r>
                    </a:p>
                    <a:p>
                      <a:pPr marL="0" indent="0" algn="just">
                        <a:buFontTx/>
                        <a:buNone/>
                      </a:pPr>
                      <a:endParaRPr lang="es-ES" sz="1200" b="0" dirty="0">
                        <a:solidFill>
                          <a:schemeClr val="tx1"/>
                        </a:solidFill>
                      </a:endParaRPr>
                    </a:p>
                    <a:p>
                      <a:pPr marL="0" indent="0" algn="just">
                        <a:buFont typeface="Arial" panose="020B0604020202020204" pitchFamily="34" charset="0"/>
                        <a:buNone/>
                      </a:pPr>
                      <a:r>
                        <a:rPr lang="es-ES" sz="1200" b="1" dirty="0">
                          <a:solidFill>
                            <a:schemeClr val="bg1"/>
                          </a:solidFill>
                        </a:rPr>
                        <a:t>Otras correlaciones notables: </a:t>
                      </a:r>
                    </a:p>
                    <a:p>
                      <a:pPr marL="0" indent="0" algn="just">
                        <a:buFont typeface="Arial" panose="020B0604020202020204" pitchFamily="34" charset="0"/>
                        <a:buNone/>
                      </a:pPr>
                      <a:endParaRPr lang="es-ES" sz="1200" b="0" dirty="0">
                        <a:solidFill>
                          <a:schemeClr val="tx1"/>
                        </a:solidFill>
                      </a:endParaRPr>
                    </a:p>
                    <a:p>
                      <a:pPr marL="0" indent="0" algn="just">
                        <a:buFontTx/>
                        <a:buNone/>
                      </a:pPr>
                      <a:r>
                        <a:rPr lang="es-ES" sz="1200" b="1" i="1" dirty="0" err="1">
                          <a:solidFill>
                            <a:schemeClr val="tx1"/>
                          </a:solidFill>
                        </a:rPr>
                        <a:t>duration</a:t>
                      </a:r>
                      <a:r>
                        <a:rPr lang="es-ES" sz="1200" b="1" i="1" dirty="0">
                          <a:solidFill>
                            <a:schemeClr val="tx1"/>
                          </a:solidFill>
                        </a:rPr>
                        <a:t> y </a:t>
                      </a:r>
                      <a:r>
                        <a:rPr lang="es-ES" sz="1200" b="1" i="1" dirty="0" err="1">
                          <a:solidFill>
                            <a:schemeClr val="tx1"/>
                          </a:solidFill>
                        </a:rPr>
                        <a:t>deposit</a:t>
                      </a:r>
                      <a:r>
                        <a:rPr lang="es-ES" sz="1200" b="1" dirty="0">
                          <a:solidFill>
                            <a:schemeClr val="tx1"/>
                          </a:solidFill>
                        </a:rPr>
                        <a:t>: </a:t>
                      </a:r>
                      <a:r>
                        <a:rPr lang="es-ES" sz="1200" b="0" dirty="0">
                          <a:solidFill>
                            <a:schemeClr val="tx1"/>
                          </a:solidFill>
                        </a:rPr>
                        <a:t>Existe una correlación positiva moderada, lo que sugiere que, a mayor duración de la llamada, es más probable que se produzca un depósito</a:t>
                      </a:r>
                    </a:p>
                    <a:p>
                      <a:pPr marL="0" indent="0" algn="just">
                        <a:buFontTx/>
                        <a:buNone/>
                      </a:pPr>
                      <a:r>
                        <a:rPr lang="es-ES" sz="1200" b="0" dirty="0">
                          <a:solidFill>
                            <a:schemeClr val="tx1"/>
                          </a:solidFill>
                        </a:rPr>
                        <a:t>.</a:t>
                      </a:r>
                    </a:p>
                    <a:p>
                      <a:pPr marL="0" indent="0" algn="just">
                        <a:buFontTx/>
                        <a:buNone/>
                      </a:pPr>
                      <a:r>
                        <a:rPr lang="es-ES" sz="1200" b="1" i="1" dirty="0" err="1">
                          <a:solidFill>
                            <a:schemeClr val="tx1"/>
                          </a:solidFill>
                        </a:rPr>
                        <a:t>campaign</a:t>
                      </a:r>
                      <a:r>
                        <a:rPr lang="es-ES" sz="1200" b="1" i="1" dirty="0">
                          <a:solidFill>
                            <a:schemeClr val="tx1"/>
                          </a:solidFill>
                        </a:rPr>
                        <a:t> y </a:t>
                      </a:r>
                      <a:r>
                        <a:rPr lang="es-ES" sz="1200" b="1" i="1" dirty="0" err="1">
                          <a:solidFill>
                            <a:schemeClr val="tx1"/>
                          </a:solidFill>
                        </a:rPr>
                        <a:t>deposit</a:t>
                      </a:r>
                      <a:r>
                        <a:rPr lang="es-ES" sz="1200" b="0" dirty="0">
                          <a:solidFill>
                            <a:schemeClr val="tx1"/>
                          </a:solidFill>
                        </a:rPr>
                        <a:t>: Existe una correlación negativa moderada, lo que indica que, a mayor número de campañas, es menos probable que se produzca un depósito.</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3" name="Título 2">
            <a:extLst>
              <a:ext uri="{FF2B5EF4-FFF2-40B4-BE49-F238E27FC236}">
                <a16:creationId xmlns:a16="http://schemas.microsoft.com/office/drawing/2014/main" id="{02B9E3A4-B941-1A31-BF07-BCACB75DD4B4}"/>
              </a:ext>
            </a:extLst>
          </p:cNvPr>
          <p:cNvSpPr>
            <a:spLocks noGrp="1"/>
          </p:cNvSpPr>
          <p:nvPr>
            <p:ph type="title"/>
          </p:nvPr>
        </p:nvSpPr>
        <p:spPr>
          <a:xfrm>
            <a:off x="0" y="0"/>
            <a:ext cx="12192000" cy="1050758"/>
          </a:xfrm>
        </p:spPr>
        <p:txBody>
          <a:bodyPr rtlCol="0"/>
          <a:lstStyle/>
          <a:p>
            <a:pPr rtl="0"/>
            <a:r>
              <a:rPr lang="es-ES" dirty="0">
                <a:solidFill>
                  <a:srgbClr val="C00000"/>
                </a:solidFill>
              </a:rPr>
              <a:t>ANÁLISIS DESCRIPTIVO</a:t>
            </a:r>
          </a:p>
        </p:txBody>
      </p:sp>
      <p:sp>
        <p:nvSpPr>
          <p:cNvPr id="2" name="Marcador de número de diapositiva 1">
            <a:extLst>
              <a:ext uri="{FF2B5EF4-FFF2-40B4-BE49-F238E27FC236}">
                <a16:creationId xmlns:a16="http://schemas.microsoft.com/office/drawing/2014/main" id="{865383D7-CD77-2E43-746F-7391CA822AA9}"/>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solidFill>
              </a:rPr>
              <a:pPr rtl="0"/>
              <a:t>9</a:t>
            </a:fld>
            <a:endParaRPr lang="es-ES">
              <a:solidFill>
                <a:schemeClr val="tx1"/>
              </a:solidFill>
            </a:endParaRPr>
          </a:p>
        </p:txBody>
      </p:sp>
      <p:pic>
        <p:nvPicPr>
          <p:cNvPr id="12" name="Imagen 11">
            <a:extLst>
              <a:ext uri="{FF2B5EF4-FFF2-40B4-BE49-F238E27FC236}">
                <a16:creationId xmlns:a16="http://schemas.microsoft.com/office/drawing/2014/main" id="{2B832C6E-30C5-EC37-5060-F3B1A4C35D42}"/>
              </a:ext>
            </a:extLst>
          </p:cNvPr>
          <p:cNvPicPr>
            <a:picLocks noChangeAspect="1"/>
          </p:cNvPicPr>
          <p:nvPr/>
        </p:nvPicPr>
        <p:blipFill>
          <a:blip r:embed="rId3"/>
          <a:stretch>
            <a:fillRect/>
          </a:stretch>
        </p:blipFill>
        <p:spPr>
          <a:xfrm>
            <a:off x="537609" y="2065814"/>
            <a:ext cx="6457551" cy="3388192"/>
          </a:xfrm>
          <a:prstGeom prst="rect">
            <a:avLst/>
          </a:prstGeom>
        </p:spPr>
      </p:pic>
      <p:sp>
        <p:nvSpPr>
          <p:cNvPr id="14" name="Rectángulo 13">
            <a:extLst>
              <a:ext uri="{FF2B5EF4-FFF2-40B4-BE49-F238E27FC236}">
                <a16:creationId xmlns:a16="http://schemas.microsoft.com/office/drawing/2014/main" id="{0F2DEB61-429D-F4FB-6E4C-AA885B97A594}"/>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CuadroTexto 14">
            <a:extLst>
              <a:ext uri="{FF2B5EF4-FFF2-40B4-BE49-F238E27FC236}">
                <a16:creationId xmlns:a16="http://schemas.microsoft.com/office/drawing/2014/main" id="{664E3168-3BD4-5721-54DF-CFCFBA70D92B}"/>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Correlación entre variables</a:t>
            </a:r>
          </a:p>
        </p:txBody>
      </p:sp>
      <p:pic>
        <p:nvPicPr>
          <p:cNvPr id="18" name="Picture 2" descr="Datecsa - Banco de Alimentos Cali">
            <a:extLst>
              <a:ext uri="{FF2B5EF4-FFF2-40B4-BE49-F238E27FC236}">
                <a16:creationId xmlns:a16="http://schemas.microsoft.com/office/drawing/2014/main" id="{0768ACC9-CE34-5B95-6004-E9EDE966F31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5653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E7AEE-1AA4-00AF-F9A0-7EA4A34C81B9}"/>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95AF84E3-4E2A-7E78-9ED4-CC07C02CB5B3}"/>
              </a:ext>
            </a:extLst>
          </p:cNvPr>
          <p:cNvSpPr>
            <a:spLocks noGrp="1"/>
          </p:cNvSpPr>
          <p:nvPr>
            <p:ph type="title"/>
          </p:nvPr>
        </p:nvSpPr>
        <p:spPr>
          <a:xfrm>
            <a:off x="0" y="0"/>
            <a:ext cx="12192000" cy="1050758"/>
          </a:xfrm>
        </p:spPr>
        <p:txBody>
          <a:bodyPr rtlCol="0"/>
          <a:lstStyle/>
          <a:p>
            <a:pPr rtl="0"/>
            <a:r>
              <a:rPr lang="es-ES" dirty="0">
                <a:solidFill>
                  <a:srgbClr val="C00000"/>
                </a:solidFill>
              </a:rPr>
              <a:t>MODELO DE PREDICCIÓN</a:t>
            </a:r>
          </a:p>
        </p:txBody>
      </p:sp>
      <p:sp>
        <p:nvSpPr>
          <p:cNvPr id="2" name="Marcador de número de diapositiva 1">
            <a:extLst>
              <a:ext uri="{FF2B5EF4-FFF2-40B4-BE49-F238E27FC236}">
                <a16:creationId xmlns:a16="http://schemas.microsoft.com/office/drawing/2014/main" id="{EF30E7F5-1FE6-E92E-8403-CAD088FCE829}"/>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solidFill>
              </a:rPr>
              <a:pPr rtl="0"/>
              <a:t>10</a:t>
            </a:fld>
            <a:endParaRPr lang="es-ES" dirty="0">
              <a:solidFill>
                <a:schemeClr val="tx1"/>
              </a:solidFill>
            </a:endParaRPr>
          </a:p>
        </p:txBody>
      </p:sp>
      <p:pic>
        <p:nvPicPr>
          <p:cNvPr id="9" name="Imagen 8">
            <a:extLst>
              <a:ext uri="{FF2B5EF4-FFF2-40B4-BE49-F238E27FC236}">
                <a16:creationId xmlns:a16="http://schemas.microsoft.com/office/drawing/2014/main" id="{4BBE607D-983B-A692-1C07-D60ECC843204}"/>
              </a:ext>
            </a:extLst>
          </p:cNvPr>
          <p:cNvPicPr>
            <a:picLocks noChangeAspect="1"/>
          </p:cNvPicPr>
          <p:nvPr/>
        </p:nvPicPr>
        <p:blipFill>
          <a:blip r:embed="rId3"/>
          <a:stretch>
            <a:fillRect/>
          </a:stretch>
        </p:blipFill>
        <p:spPr>
          <a:xfrm>
            <a:off x="965200" y="3276338"/>
            <a:ext cx="4306372" cy="2370444"/>
          </a:xfrm>
          <a:prstGeom prst="rect">
            <a:avLst/>
          </a:prstGeom>
        </p:spPr>
      </p:pic>
      <p:pic>
        <p:nvPicPr>
          <p:cNvPr id="11" name="Imagen 10">
            <a:extLst>
              <a:ext uri="{FF2B5EF4-FFF2-40B4-BE49-F238E27FC236}">
                <a16:creationId xmlns:a16="http://schemas.microsoft.com/office/drawing/2014/main" id="{CDD87BD3-25FA-9D0D-FC9A-D2054A03EAFE}"/>
              </a:ext>
            </a:extLst>
          </p:cNvPr>
          <p:cNvPicPr>
            <a:picLocks noChangeAspect="1"/>
          </p:cNvPicPr>
          <p:nvPr/>
        </p:nvPicPr>
        <p:blipFill>
          <a:blip r:embed="rId4"/>
          <a:stretch>
            <a:fillRect/>
          </a:stretch>
        </p:blipFill>
        <p:spPr>
          <a:xfrm>
            <a:off x="5916186" y="3310202"/>
            <a:ext cx="4904214" cy="2370444"/>
          </a:xfrm>
          <a:prstGeom prst="rect">
            <a:avLst/>
          </a:prstGeom>
        </p:spPr>
      </p:pic>
      <p:graphicFrame>
        <p:nvGraphicFramePr>
          <p:cNvPr id="17" name="Tabla 16">
            <a:extLst>
              <a:ext uri="{FF2B5EF4-FFF2-40B4-BE49-F238E27FC236}">
                <a16:creationId xmlns:a16="http://schemas.microsoft.com/office/drawing/2014/main" id="{A60D66F5-A11B-23FF-57C3-23C9EE701FA0}"/>
              </a:ext>
            </a:extLst>
          </p:cNvPr>
          <p:cNvGraphicFramePr>
            <a:graphicFrameLocks noGrp="1"/>
          </p:cNvGraphicFramePr>
          <p:nvPr>
            <p:extLst>
              <p:ext uri="{D42A27DB-BD31-4B8C-83A1-F6EECF244321}">
                <p14:modId xmlns:p14="http://schemas.microsoft.com/office/powerpoint/2010/main" val="1729950501"/>
              </p:ext>
            </p:extLst>
          </p:nvPr>
        </p:nvGraphicFramePr>
        <p:xfrm>
          <a:off x="5080046" y="5451271"/>
          <a:ext cx="1137874" cy="647619"/>
        </p:xfrm>
        <a:graphic>
          <a:graphicData uri="http://schemas.openxmlformats.org/drawingml/2006/table">
            <a:tbl>
              <a:tblPr firstRow="1">
                <a:tableStyleId>{5C22544A-7EE6-4342-B048-85BDC9FD1C3A}</a:tableStyleId>
              </a:tblPr>
              <a:tblGrid>
                <a:gridCol w="1137874">
                  <a:extLst>
                    <a:ext uri="{9D8B030D-6E8A-4147-A177-3AD203B41FA5}">
                      <a16:colId xmlns:a16="http://schemas.microsoft.com/office/drawing/2014/main" val="2203408343"/>
                    </a:ext>
                  </a:extLst>
                </a:gridCol>
              </a:tblGrid>
              <a:tr h="647619">
                <a:tc>
                  <a:txBody>
                    <a:bodyPr/>
                    <a:lstStyle/>
                    <a:p>
                      <a:pPr marL="0" indent="0" algn="just">
                        <a:buFontTx/>
                        <a:buNone/>
                      </a:pPr>
                      <a:r>
                        <a:rPr lang="es-ES" sz="500" b="1" i="0" dirty="0" err="1">
                          <a:solidFill>
                            <a:schemeClr val="tx1"/>
                          </a:solidFill>
                        </a:rPr>
                        <a:t>rl</a:t>
                      </a:r>
                      <a:r>
                        <a:rPr lang="es-ES" sz="500" b="0" i="0" dirty="0">
                          <a:solidFill>
                            <a:schemeClr val="tx1"/>
                          </a:solidFill>
                        </a:rPr>
                        <a:t> = </a:t>
                      </a:r>
                      <a:r>
                        <a:rPr lang="es-ES" sz="500" b="0" i="0" dirty="0" err="1">
                          <a:solidFill>
                            <a:schemeClr val="tx1"/>
                          </a:solidFill>
                        </a:rPr>
                        <a:t>regression</a:t>
                      </a:r>
                      <a:r>
                        <a:rPr lang="es-ES" sz="500" b="0" i="0" dirty="0">
                          <a:solidFill>
                            <a:schemeClr val="tx1"/>
                          </a:solidFill>
                        </a:rPr>
                        <a:t> </a:t>
                      </a:r>
                      <a:r>
                        <a:rPr lang="es-ES" sz="500" b="0" i="0" dirty="0" err="1">
                          <a:solidFill>
                            <a:schemeClr val="tx1"/>
                          </a:solidFill>
                        </a:rPr>
                        <a:t>logistic</a:t>
                      </a:r>
                      <a:endParaRPr lang="es-ES" sz="500" b="0" i="0" dirty="0">
                        <a:solidFill>
                          <a:schemeClr val="tx1"/>
                        </a:solidFill>
                      </a:endParaRPr>
                    </a:p>
                    <a:p>
                      <a:pPr marL="0" indent="0" algn="just">
                        <a:buFontTx/>
                        <a:buNone/>
                      </a:pPr>
                      <a:r>
                        <a:rPr lang="es-ES" sz="500" b="1" i="0" dirty="0" err="1">
                          <a:solidFill>
                            <a:schemeClr val="tx1"/>
                          </a:solidFill>
                        </a:rPr>
                        <a:t>dt</a:t>
                      </a:r>
                      <a:r>
                        <a:rPr lang="es-ES" sz="500" b="0" i="0" dirty="0">
                          <a:solidFill>
                            <a:schemeClr val="tx1"/>
                          </a:solidFill>
                        </a:rPr>
                        <a:t> = decisión </a:t>
                      </a:r>
                      <a:r>
                        <a:rPr lang="es-ES" sz="500" b="0" i="0" dirty="0" err="1">
                          <a:solidFill>
                            <a:schemeClr val="tx1"/>
                          </a:solidFill>
                        </a:rPr>
                        <a:t>tree</a:t>
                      </a:r>
                      <a:endParaRPr lang="es-ES" sz="500" b="0" i="0" dirty="0">
                        <a:solidFill>
                          <a:schemeClr val="tx1"/>
                        </a:solidFill>
                      </a:endParaRPr>
                    </a:p>
                    <a:p>
                      <a:pPr marL="0" indent="0" algn="just">
                        <a:buFontTx/>
                        <a:buNone/>
                      </a:pPr>
                      <a:r>
                        <a:rPr lang="es-ES" sz="500" b="1" i="0" dirty="0" err="1">
                          <a:solidFill>
                            <a:schemeClr val="tx1"/>
                          </a:solidFill>
                        </a:rPr>
                        <a:t>rf</a:t>
                      </a:r>
                      <a:r>
                        <a:rPr lang="es-ES" sz="500" b="0" i="0" dirty="0">
                          <a:solidFill>
                            <a:schemeClr val="tx1"/>
                          </a:solidFill>
                        </a:rPr>
                        <a:t> = </a:t>
                      </a:r>
                      <a:r>
                        <a:rPr lang="es-ES" sz="500" b="0" i="0" dirty="0" err="1">
                          <a:solidFill>
                            <a:schemeClr val="tx1"/>
                          </a:solidFill>
                        </a:rPr>
                        <a:t>random</a:t>
                      </a:r>
                      <a:r>
                        <a:rPr lang="es-ES" sz="500" b="0" i="0" dirty="0">
                          <a:solidFill>
                            <a:schemeClr val="tx1"/>
                          </a:solidFill>
                        </a:rPr>
                        <a:t> </a:t>
                      </a:r>
                      <a:r>
                        <a:rPr lang="es-ES" sz="500" b="0" i="0" dirty="0" err="1">
                          <a:solidFill>
                            <a:schemeClr val="tx1"/>
                          </a:solidFill>
                        </a:rPr>
                        <a:t>forest</a:t>
                      </a:r>
                      <a:endParaRPr lang="es-ES" sz="500" b="0" i="0" dirty="0">
                        <a:solidFill>
                          <a:schemeClr val="tx1"/>
                        </a:solidFill>
                      </a:endParaRPr>
                    </a:p>
                    <a:p>
                      <a:pPr marL="0" indent="0" algn="just">
                        <a:buFontTx/>
                        <a:buNone/>
                      </a:pPr>
                      <a:r>
                        <a:rPr lang="es-ES" sz="500" b="1" i="0" dirty="0" err="1">
                          <a:solidFill>
                            <a:schemeClr val="tx1"/>
                          </a:solidFill>
                        </a:rPr>
                        <a:t>svm</a:t>
                      </a:r>
                      <a:r>
                        <a:rPr lang="es-ES" sz="500" b="0" i="0" dirty="0">
                          <a:solidFill>
                            <a:schemeClr val="tx1"/>
                          </a:solidFill>
                        </a:rPr>
                        <a:t> = </a:t>
                      </a:r>
                      <a:r>
                        <a:rPr lang="es-ES" sz="500" b="0" i="0" dirty="0" err="1">
                          <a:solidFill>
                            <a:schemeClr val="tx1"/>
                          </a:solidFill>
                        </a:rPr>
                        <a:t>support</a:t>
                      </a:r>
                      <a:r>
                        <a:rPr lang="es-ES" sz="500" b="0" i="0" dirty="0">
                          <a:solidFill>
                            <a:schemeClr val="tx1"/>
                          </a:solidFill>
                        </a:rPr>
                        <a:t> vector machine</a:t>
                      </a:r>
                    </a:p>
                    <a:p>
                      <a:pPr marL="0" indent="0" algn="just">
                        <a:buFontTx/>
                        <a:buNone/>
                      </a:pPr>
                      <a:r>
                        <a:rPr lang="es-ES" sz="500" b="1" i="0" dirty="0" err="1">
                          <a:solidFill>
                            <a:schemeClr val="tx1"/>
                          </a:solidFill>
                        </a:rPr>
                        <a:t>gb</a:t>
                      </a:r>
                      <a:r>
                        <a:rPr lang="es-ES" sz="500" b="0" i="0" dirty="0">
                          <a:solidFill>
                            <a:schemeClr val="tx1"/>
                          </a:solidFill>
                        </a:rPr>
                        <a:t> = </a:t>
                      </a:r>
                      <a:r>
                        <a:rPr lang="es-ES" sz="500" b="0" i="0" dirty="0" err="1">
                          <a:solidFill>
                            <a:schemeClr val="tx1"/>
                          </a:solidFill>
                        </a:rPr>
                        <a:t>gradient</a:t>
                      </a:r>
                      <a:r>
                        <a:rPr lang="es-ES" sz="500" b="0" i="0" dirty="0">
                          <a:solidFill>
                            <a:schemeClr val="tx1"/>
                          </a:solidFill>
                        </a:rPr>
                        <a:t> </a:t>
                      </a:r>
                      <a:r>
                        <a:rPr lang="es-ES" sz="500" b="0" i="0" dirty="0" err="1">
                          <a:solidFill>
                            <a:schemeClr val="tx1"/>
                          </a:solidFill>
                        </a:rPr>
                        <a:t>boost</a:t>
                      </a:r>
                      <a:endParaRPr lang="es-ES" sz="500" b="0" i="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500" b="1" i="0" dirty="0" err="1">
                          <a:solidFill>
                            <a:schemeClr val="tx1"/>
                          </a:solidFill>
                        </a:rPr>
                        <a:t>xgb</a:t>
                      </a:r>
                      <a:r>
                        <a:rPr lang="es-ES" sz="500" b="0" i="0" dirty="0">
                          <a:solidFill>
                            <a:schemeClr val="tx1"/>
                          </a:solidFill>
                        </a:rPr>
                        <a:t> = </a:t>
                      </a:r>
                      <a:r>
                        <a:rPr lang="es-ES" sz="500" b="0" i="0" dirty="0" err="1">
                          <a:solidFill>
                            <a:schemeClr val="tx1"/>
                          </a:solidFill>
                        </a:rPr>
                        <a:t>xtreme</a:t>
                      </a:r>
                      <a:r>
                        <a:rPr lang="es-ES" sz="500" b="0" i="0" dirty="0">
                          <a:solidFill>
                            <a:schemeClr val="tx1"/>
                          </a:solidFill>
                        </a:rPr>
                        <a:t> </a:t>
                      </a:r>
                      <a:r>
                        <a:rPr lang="es-ES" sz="500" b="0" i="0" dirty="0" err="1">
                          <a:solidFill>
                            <a:schemeClr val="tx1"/>
                          </a:solidFill>
                        </a:rPr>
                        <a:t>gradient</a:t>
                      </a:r>
                      <a:r>
                        <a:rPr lang="es-ES" sz="500" b="0" i="0" dirty="0">
                          <a:solidFill>
                            <a:schemeClr val="tx1"/>
                          </a:solidFill>
                        </a:rPr>
                        <a:t> </a:t>
                      </a:r>
                      <a:r>
                        <a:rPr lang="es-ES" sz="500" b="0" i="0" dirty="0" err="1">
                          <a:solidFill>
                            <a:schemeClr val="tx1"/>
                          </a:solidFill>
                        </a:rPr>
                        <a:t>boost</a:t>
                      </a:r>
                      <a:endParaRPr lang="es-ES" sz="500" b="0" i="0" dirty="0">
                        <a:solidFill>
                          <a:schemeClr val="tx1"/>
                        </a:solidFill>
                      </a:endParaRPr>
                    </a:p>
                    <a:p>
                      <a:pPr marL="0" indent="0" algn="just">
                        <a:buFontTx/>
                        <a:buNone/>
                      </a:pPr>
                      <a:endParaRPr lang="es-ES" sz="500" b="0" dirty="0">
                        <a:solidFill>
                          <a:schemeClr val="tx1"/>
                        </a:solidFill>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5060090"/>
                  </a:ext>
                </a:extLst>
              </a:tr>
            </a:tbl>
          </a:graphicData>
        </a:graphic>
      </p:graphicFrame>
      <p:graphicFrame>
        <p:nvGraphicFramePr>
          <p:cNvPr id="12" name="Tabla 11">
            <a:extLst>
              <a:ext uri="{FF2B5EF4-FFF2-40B4-BE49-F238E27FC236}">
                <a16:creationId xmlns:a16="http://schemas.microsoft.com/office/drawing/2014/main" id="{82D7FACB-84FF-6EF7-A05C-7D0246478B5A}"/>
              </a:ext>
            </a:extLst>
          </p:cNvPr>
          <p:cNvGraphicFramePr>
            <a:graphicFrameLocks noGrp="1"/>
          </p:cNvGraphicFramePr>
          <p:nvPr>
            <p:extLst>
              <p:ext uri="{D42A27DB-BD31-4B8C-83A1-F6EECF244321}">
                <p14:modId xmlns:p14="http://schemas.microsoft.com/office/powerpoint/2010/main" val="4068439180"/>
              </p:ext>
            </p:extLst>
          </p:nvPr>
        </p:nvGraphicFramePr>
        <p:xfrm>
          <a:off x="728132" y="1331064"/>
          <a:ext cx="10278535" cy="1935480"/>
        </p:xfrm>
        <a:graphic>
          <a:graphicData uri="http://schemas.openxmlformats.org/drawingml/2006/table">
            <a:tbl>
              <a:tblPr firstRow="1">
                <a:tableStyleId>{5C22544A-7EE6-4342-B048-85BDC9FD1C3A}</a:tableStyleId>
              </a:tblPr>
              <a:tblGrid>
                <a:gridCol w="10278535">
                  <a:extLst>
                    <a:ext uri="{9D8B030D-6E8A-4147-A177-3AD203B41FA5}">
                      <a16:colId xmlns:a16="http://schemas.microsoft.com/office/drawing/2014/main" val="2203408343"/>
                    </a:ext>
                  </a:extLst>
                </a:gridCol>
              </a:tblGrid>
              <a:tr h="1842626">
                <a:tc>
                  <a:txBody>
                    <a:bodyPr/>
                    <a:lstStyle/>
                    <a:p>
                      <a:pPr marL="0" indent="0" algn="just">
                        <a:buFontTx/>
                        <a:buNone/>
                      </a:pPr>
                      <a:r>
                        <a:rPr lang="es-ES" sz="1100" b="0" i="0" dirty="0">
                          <a:solidFill>
                            <a:schemeClr val="tx1"/>
                          </a:solidFill>
                        </a:rPr>
                        <a:t>Los modelos incluidos en evaluación son aptos para problemas de clasificación, en este caso el objetivo es asignar una de dos etiquetas posibles, lo que encaja perfectamente en el marco de </a:t>
                      </a:r>
                      <a:r>
                        <a:rPr lang="es-ES" sz="1100" b="1" i="0" dirty="0">
                          <a:solidFill>
                            <a:schemeClr val="tx1"/>
                          </a:solidFill>
                        </a:rPr>
                        <a:t>modelos supervisados de clasificación</a:t>
                      </a:r>
                      <a:r>
                        <a:rPr lang="es-ES" sz="1100" b="0" i="0" dirty="0">
                          <a:solidFill>
                            <a:schemeClr val="tx1"/>
                          </a:solidFill>
                        </a:rPr>
                        <a:t>.</a:t>
                      </a:r>
                    </a:p>
                    <a:p>
                      <a:pPr marL="0" indent="0" algn="just">
                        <a:buFontTx/>
                        <a:buNone/>
                      </a:pPr>
                      <a:endParaRPr lang="es-ES" sz="1100" b="1" dirty="0">
                        <a:solidFill>
                          <a:schemeClr val="tx1"/>
                        </a:solidFill>
                      </a:endParaRPr>
                    </a:p>
                    <a:p>
                      <a:pPr marL="0" indent="0" algn="just">
                        <a:buFontTx/>
                        <a:buNone/>
                      </a:pPr>
                      <a:r>
                        <a:rPr lang="es-ES" sz="1100" b="1" dirty="0">
                          <a:solidFill>
                            <a:schemeClr val="tx1"/>
                          </a:solidFill>
                        </a:rPr>
                        <a:t>Modelos con mejor rendimiento general (</a:t>
                      </a:r>
                      <a:r>
                        <a:rPr lang="es-ES" sz="1100" b="1" dirty="0" err="1">
                          <a:solidFill>
                            <a:schemeClr val="tx1"/>
                          </a:solidFill>
                        </a:rPr>
                        <a:t>roc_auc</a:t>
                      </a:r>
                      <a:r>
                        <a:rPr lang="es-ES" sz="1100" b="1" dirty="0">
                          <a:solidFill>
                            <a:schemeClr val="tx1"/>
                          </a:solidFill>
                        </a:rPr>
                        <a:t>): </a:t>
                      </a:r>
                      <a:r>
                        <a:rPr lang="es-ES" sz="1100" b="0" dirty="0">
                          <a:solidFill>
                            <a:schemeClr val="tx1"/>
                          </a:solidFill>
                        </a:rPr>
                        <a:t>Los modelos </a:t>
                      </a:r>
                      <a:r>
                        <a:rPr lang="es-ES" sz="1100" b="0" dirty="0" err="1">
                          <a:solidFill>
                            <a:schemeClr val="tx1"/>
                          </a:solidFill>
                        </a:rPr>
                        <a:t>rf</a:t>
                      </a:r>
                      <a:r>
                        <a:rPr lang="es-ES" sz="1100" b="0" dirty="0">
                          <a:solidFill>
                            <a:schemeClr val="tx1"/>
                          </a:solidFill>
                        </a:rPr>
                        <a:t>, </a:t>
                      </a:r>
                      <a:r>
                        <a:rPr lang="es-ES" sz="1100" b="0" dirty="0" err="1">
                          <a:solidFill>
                            <a:schemeClr val="tx1"/>
                          </a:solidFill>
                        </a:rPr>
                        <a:t>lr</a:t>
                      </a:r>
                      <a:r>
                        <a:rPr lang="es-ES" sz="1100" b="0" dirty="0">
                          <a:solidFill>
                            <a:schemeClr val="tx1"/>
                          </a:solidFill>
                        </a:rPr>
                        <a:t>, </a:t>
                      </a:r>
                      <a:r>
                        <a:rPr lang="es-ES" sz="1100" b="0" dirty="0" err="1">
                          <a:solidFill>
                            <a:schemeClr val="tx1"/>
                          </a:solidFill>
                        </a:rPr>
                        <a:t>svm</a:t>
                      </a:r>
                      <a:r>
                        <a:rPr lang="es-ES" sz="1100" b="0" dirty="0">
                          <a:solidFill>
                            <a:schemeClr val="tx1"/>
                          </a:solidFill>
                        </a:rPr>
                        <a:t>, </a:t>
                      </a:r>
                      <a:r>
                        <a:rPr lang="es-ES" sz="1100" b="0" dirty="0" err="1">
                          <a:solidFill>
                            <a:schemeClr val="tx1"/>
                          </a:solidFill>
                        </a:rPr>
                        <a:t>gb</a:t>
                      </a:r>
                      <a:r>
                        <a:rPr lang="es-ES" sz="1100" b="0" dirty="0">
                          <a:solidFill>
                            <a:schemeClr val="tx1"/>
                          </a:solidFill>
                        </a:rPr>
                        <a:t>, y </a:t>
                      </a:r>
                      <a:r>
                        <a:rPr lang="es-ES" sz="1100" b="0" dirty="0" err="1">
                          <a:solidFill>
                            <a:schemeClr val="tx1"/>
                          </a:solidFill>
                        </a:rPr>
                        <a:t>xgb</a:t>
                      </a:r>
                      <a:r>
                        <a:rPr lang="es-ES" sz="1100" b="0" dirty="0">
                          <a:solidFill>
                            <a:schemeClr val="tx1"/>
                          </a:solidFill>
                        </a:rPr>
                        <a:t> parecen tener un rendimiento muy similar y alto en términos de </a:t>
                      </a:r>
                      <a:r>
                        <a:rPr lang="es-ES" sz="1100" b="0" dirty="0" err="1">
                          <a:solidFill>
                            <a:schemeClr val="tx1"/>
                          </a:solidFill>
                        </a:rPr>
                        <a:t>roc_auc</a:t>
                      </a:r>
                      <a:r>
                        <a:rPr lang="es-ES" sz="1100" b="0" dirty="0">
                          <a:solidFill>
                            <a:schemeClr val="tx1"/>
                          </a:solidFill>
                        </a:rPr>
                        <a:t>, lo que sugiere que son buenos modelos de clasificación.</a:t>
                      </a:r>
                    </a:p>
                    <a:p>
                      <a:pPr marL="0" indent="0" algn="just">
                        <a:buFont typeface="Arial" panose="020B0604020202020204" pitchFamily="34" charset="0"/>
                        <a:buNone/>
                      </a:pPr>
                      <a:endParaRPr lang="es-ES" sz="1100" b="0" dirty="0">
                        <a:solidFill>
                          <a:schemeClr val="tx1"/>
                        </a:solidFill>
                      </a:endParaRPr>
                    </a:p>
                    <a:p>
                      <a:pPr marL="0" indent="0" algn="just">
                        <a:buFontTx/>
                        <a:buNone/>
                      </a:pPr>
                      <a:r>
                        <a:rPr lang="es-ES" sz="1100" b="1" dirty="0">
                          <a:solidFill>
                            <a:schemeClr val="tx1"/>
                          </a:solidFill>
                        </a:rPr>
                        <a:t>Precisión: </a:t>
                      </a:r>
                      <a:r>
                        <a:rPr lang="es-ES" sz="1100" b="0" dirty="0">
                          <a:solidFill>
                            <a:schemeClr val="tx1"/>
                          </a:solidFill>
                        </a:rPr>
                        <a:t>Los modelos </a:t>
                      </a:r>
                      <a:r>
                        <a:rPr lang="es-ES" sz="1100" b="0" dirty="0" err="1">
                          <a:solidFill>
                            <a:schemeClr val="tx1"/>
                          </a:solidFill>
                        </a:rPr>
                        <a:t>svm</a:t>
                      </a:r>
                      <a:r>
                        <a:rPr lang="es-ES" sz="1100" b="0" dirty="0">
                          <a:solidFill>
                            <a:schemeClr val="tx1"/>
                          </a:solidFill>
                        </a:rPr>
                        <a:t> y </a:t>
                      </a:r>
                      <a:r>
                        <a:rPr lang="es-ES" sz="1100" b="0" dirty="0" err="1">
                          <a:solidFill>
                            <a:schemeClr val="tx1"/>
                          </a:solidFill>
                        </a:rPr>
                        <a:t>gb</a:t>
                      </a:r>
                      <a:r>
                        <a:rPr lang="es-ES" sz="1100" b="0" dirty="0">
                          <a:solidFill>
                            <a:schemeClr val="tx1"/>
                          </a:solidFill>
                        </a:rPr>
                        <a:t> parecen tener una precisión ligeramente más alta según la métrica </a:t>
                      </a:r>
                      <a:r>
                        <a:rPr lang="es-ES" sz="1100" b="0" dirty="0" err="1">
                          <a:solidFill>
                            <a:schemeClr val="tx1"/>
                          </a:solidFill>
                        </a:rPr>
                        <a:t>average_precision</a:t>
                      </a:r>
                      <a:r>
                        <a:rPr lang="es-ES" sz="1100" b="0" dirty="0">
                          <a:solidFill>
                            <a:schemeClr val="tx1"/>
                          </a:solidFill>
                        </a:rPr>
                        <a:t>.</a:t>
                      </a:r>
                    </a:p>
                    <a:p>
                      <a:pPr marL="0" indent="0" algn="just">
                        <a:buFont typeface="Arial" panose="020B0604020202020204" pitchFamily="34" charset="0"/>
                        <a:buNone/>
                      </a:pPr>
                      <a:endParaRPr lang="es-ES" sz="1100" b="0" dirty="0">
                        <a:solidFill>
                          <a:schemeClr val="tx1"/>
                        </a:solidFill>
                      </a:endParaRPr>
                    </a:p>
                    <a:p>
                      <a:pPr marL="0" indent="0" algn="just">
                        <a:buFontTx/>
                        <a:buNone/>
                      </a:pPr>
                      <a:r>
                        <a:rPr lang="es-ES" sz="1100" b="1" dirty="0">
                          <a:solidFill>
                            <a:schemeClr val="tx1"/>
                          </a:solidFill>
                        </a:rPr>
                        <a:t>Equilibrio entre precisión y </a:t>
                      </a:r>
                      <a:r>
                        <a:rPr lang="es-ES" sz="1100" b="1" dirty="0" err="1">
                          <a:solidFill>
                            <a:schemeClr val="tx1"/>
                          </a:solidFill>
                        </a:rPr>
                        <a:t>recall</a:t>
                      </a:r>
                      <a:r>
                        <a:rPr lang="es-ES" sz="1100" b="1" dirty="0">
                          <a:solidFill>
                            <a:schemeClr val="tx1"/>
                          </a:solidFill>
                        </a:rPr>
                        <a:t>: </a:t>
                      </a:r>
                      <a:r>
                        <a:rPr lang="es-ES" sz="1100" b="0" dirty="0">
                          <a:solidFill>
                            <a:schemeClr val="tx1"/>
                          </a:solidFill>
                        </a:rPr>
                        <a:t>El modelo </a:t>
                      </a:r>
                      <a:r>
                        <a:rPr lang="es-ES" sz="1100" b="0" dirty="0" err="1">
                          <a:solidFill>
                            <a:schemeClr val="tx1"/>
                          </a:solidFill>
                        </a:rPr>
                        <a:t>xgb</a:t>
                      </a:r>
                      <a:r>
                        <a:rPr lang="es-ES" sz="1100" b="0" dirty="0">
                          <a:solidFill>
                            <a:schemeClr val="tx1"/>
                          </a:solidFill>
                        </a:rPr>
                        <a:t> parece tener el mejor equilibrio entre precisión y </a:t>
                      </a:r>
                      <a:r>
                        <a:rPr lang="es-ES" sz="1100" b="0" dirty="0" err="1">
                          <a:solidFill>
                            <a:schemeClr val="tx1"/>
                          </a:solidFill>
                        </a:rPr>
                        <a:t>recall</a:t>
                      </a:r>
                      <a:r>
                        <a:rPr lang="es-ES" sz="1100" b="0" dirty="0">
                          <a:solidFill>
                            <a:schemeClr val="tx1"/>
                          </a:solidFill>
                        </a:rPr>
                        <a:t> según la métrica max_f1.</a:t>
                      </a:r>
                    </a:p>
                    <a:p>
                      <a:pPr marL="0" indent="0" algn="just">
                        <a:buFontTx/>
                        <a:buNone/>
                      </a:pPr>
                      <a:endParaRPr lang="es-ES" sz="1100" b="0" dirty="0">
                        <a:solidFill>
                          <a:schemeClr val="tx1"/>
                        </a:solidFill>
                      </a:endParaRPr>
                    </a:p>
                    <a:p>
                      <a:pPr marL="0" indent="0" algn="just">
                        <a:buFontTx/>
                        <a:buNone/>
                      </a:pPr>
                      <a:r>
                        <a:rPr lang="es-ES" sz="1100" b="1" dirty="0">
                          <a:solidFill>
                            <a:schemeClr val="tx1"/>
                          </a:solidFill>
                        </a:rPr>
                        <a:t>Precisión en el mejor punto F1: </a:t>
                      </a:r>
                      <a:r>
                        <a:rPr lang="es-ES" sz="1100" b="0" dirty="0">
                          <a:solidFill>
                            <a:schemeClr val="tx1"/>
                          </a:solidFill>
                        </a:rPr>
                        <a:t>El modelo </a:t>
                      </a:r>
                      <a:r>
                        <a:rPr lang="es-ES" sz="1100" b="0" dirty="0" err="1">
                          <a:solidFill>
                            <a:schemeClr val="tx1"/>
                          </a:solidFill>
                        </a:rPr>
                        <a:t>xgb</a:t>
                      </a:r>
                      <a:r>
                        <a:rPr lang="es-ES" sz="1100" b="0" dirty="0">
                          <a:solidFill>
                            <a:schemeClr val="tx1"/>
                          </a:solidFill>
                        </a:rPr>
                        <a:t> también tiene la mayor precisión cuando se ajusta el umbral de clasificación para maximizar el puntaje F1.</a:t>
                      </a:r>
                      <a:endParaRPr lang="es-ES" sz="1000" b="0" dirty="0">
                        <a:solidFill>
                          <a:schemeClr val="tx1"/>
                        </a:solidFill>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5060090"/>
                  </a:ext>
                </a:extLst>
              </a:tr>
            </a:tbl>
          </a:graphicData>
        </a:graphic>
      </p:graphicFrame>
      <p:pic>
        <p:nvPicPr>
          <p:cNvPr id="13" name="Picture 2" descr="Datecsa - Banco de Alimentos Cali">
            <a:extLst>
              <a:ext uri="{FF2B5EF4-FFF2-40B4-BE49-F238E27FC236}">
                <a16:creationId xmlns:a16="http://schemas.microsoft.com/office/drawing/2014/main" id="{F5BE311B-52D0-603F-250A-0EB5E2141EC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8E670286-11D3-682F-DA5B-6E2A7AAE5356}"/>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uadroTexto 15">
            <a:extLst>
              <a:ext uri="{FF2B5EF4-FFF2-40B4-BE49-F238E27FC236}">
                <a16:creationId xmlns:a16="http://schemas.microsoft.com/office/drawing/2014/main" id="{AF6548F9-73C7-1BD5-489F-B5797B88D058}"/>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Selección de modelo</a:t>
            </a:r>
          </a:p>
        </p:txBody>
      </p:sp>
      <p:sp>
        <p:nvSpPr>
          <p:cNvPr id="7" name="CuadroTexto 6">
            <a:extLst>
              <a:ext uri="{FF2B5EF4-FFF2-40B4-BE49-F238E27FC236}">
                <a16:creationId xmlns:a16="http://schemas.microsoft.com/office/drawing/2014/main" id="{F6C95A3C-D65C-254A-ECC3-9DE59D7AEB80}"/>
              </a:ext>
            </a:extLst>
          </p:cNvPr>
          <p:cNvSpPr txBox="1"/>
          <p:nvPr/>
        </p:nvSpPr>
        <p:spPr>
          <a:xfrm>
            <a:off x="728132" y="5671138"/>
            <a:ext cx="9721013" cy="754053"/>
          </a:xfrm>
          <a:prstGeom prst="rect">
            <a:avLst/>
          </a:prstGeom>
          <a:noFill/>
        </p:spPr>
        <p:txBody>
          <a:bodyPr wrap="square">
            <a:spAutoFit/>
          </a:bodyPr>
          <a:lstStyle/>
          <a:p>
            <a:pPr algn="just"/>
            <a:r>
              <a:rPr lang="es-ES" sz="1400" b="1" dirty="0">
                <a:solidFill>
                  <a:srgbClr val="C00000"/>
                </a:solidFill>
              </a:rPr>
              <a:t>Conclusiones Preliminares:</a:t>
            </a:r>
          </a:p>
          <a:p>
            <a:pPr algn="just"/>
            <a:r>
              <a:rPr lang="es-ES" sz="700" b="1" dirty="0"/>
              <a:t> </a:t>
            </a:r>
            <a:endParaRPr lang="es-ES" sz="1050" dirty="0"/>
          </a:p>
          <a:p>
            <a:pPr algn="just"/>
            <a:r>
              <a:rPr lang="es-ES" sz="1100" b="1" dirty="0" err="1"/>
              <a:t>XGBoost</a:t>
            </a:r>
            <a:r>
              <a:rPr lang="es-ES" sz="1100" dirty="0"/>
              <a:t> parece ser el modelo con el mejor rendimiento general, especialmente en términos de equilibrio entre precisión y </a:t>
            </a:r>
            <a:r>
              <a:rPr lang="es-ES" sz="1100" dirty="0" err="1"/>
              <a:t>recall</a:t>
            </a:r>
            <a:r>
              <a:rPr lang="es-ES" sz="1100" dirty="0"/>
              <a:t>.</a:t>
            </a:r>
          </a:p>
          <a:p>
            <a:pPr algn="just"/>
            <a:r>
              <a:rPr lang="es-ES" sz="1100" b="1" dirty="0"/>
              <a:t>Los otros modelos</a:t>
            </a:r>
            <a:r>
              <a:rPr lang="es-ES" sz="1100" dirty="0"/>
              <a:t> también muestran un buen rendimiento, pero </a:t>
            </a:r>
            <a:r>
              <a:rPr lang="es-ES" sz="1100" dirty="0" err="1"/>
              <a:t>XGBoost</a:t>
            </a:r>
            <a:r>
              <a:rPr lang="es-ES" sz="1100" dirty="0"/>
              <a:t> podría ser ligeramente superior.</a:t>
            </a:r>
          </a:p>
        </p:txBody>
      </p:sp>
    </p:spTree>
    <p:extLst>
      <p:ext uri="{BB962C8B-B14F-4D97-AF65-F5344CB8AC3E}">
        <p14:creationId xmlns:p14="http://schemas.microsoft.com/office/powerpoint/2010/main" val="2404154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43ABA-5CC6-9BC5-8CBD-B3F89C5DFB2C}"/>
            </a:ext>
          </a:extLst>
        </p:cNvPr>
        <p:cNvGrpSpPr/>
        <p:nvPr/>
      </p:nvGrpSpPr>
      <p:grpSpPr>
        <a:xfrm>
          <a:off x="0" y="0"/>
          <a:ext cx="0" cy="0"/>
          <a:chOff x="0" y="0"/>
          <a:chExt cx="0" cy="0"/>
        </a:xfrm>
      </p:grpSpPr>
      <p:sp>
        <p:nvSpPr>
          <p:cNvPr id="10" name="Rectángulo: esquinas redondeadas 9">
            <a:extLst>
              <a:ext uri="{FF2B5EF4-FFF2-40B4-BE49-F238E27FC236}">
                <a16:creationId xmlns:a16="http://schemas.microsoft.com/office/drawing/2014/main" id="{52861049-78C0-C6B8-191E-E4559F89EB98}"/>
              </a:ext>
            </a:extLst>
          </p:cNvPr>
          <p:cNvSpPr/>
          <p:nvPr/>
        </p:nvSpPr>
        <p:spPr>
          <a:xfrm>
            <a:off x="593556" y="3935579"/>
            <a:ext cx="4317112" cy="2007794"/>
          </a:xfrm>
          <a:prstGeom prst="roundRect">
            <a:avLst>
              <a:gd name="adj" fmla="val 1098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4E0BB69F-2214-E920-1E67-182240558DC2}"/>
              </a:ext>
            </a:extLst>
          </p:cNvPr>
          <p:cNvSpPr>
            <a:spLocks noGrp="1"/>
          </p:cNvSpPr>
          <p:nvPr>
            <p:ph type="title"/>
          </p:nvPr>
        </p:nvSpPr>
        <p:spPr>
          <a:xfrm>
            <a:off x="0" y="0"/>
            <a:ext cx="12192000" cy="1050758"/>
          </a:xfrm>
        </p:spPr>
        <p:txBody>
          <a:bodyPr rtlCol="0"/>
          <a:lstStyle/>
          <a:p>
            <a:pPr rtl="0"/>
            <a:r>
              <a:rPr lang="es-ES" dirty="0">
                <a:solidFill>
                  <a:srgbClr val="C00000"/>
                </a:solidFill>
              </a:rPr>
              <a:t>MODELO DE PREDICCIÓN</a:t>
            </a:r>
          </a:p>
        </p:txBody>
      </p:sp>
      <p:sp>
        <p:nvSpPr>
          <p:cNvPr id="2" name="Marcador de número de diapositiva 1">
            <a:extLst>
              <a:ext uri="{FF2B5EF4-FFF2-40B4-BE49-F238E27FC236}">
                <a16:creationId xmlns:a16="http://schemas.microsoft.com/office/drawing/2014/main" id="{3A70C312-1520-DEE7-361A-9B8BA74796F3}"/>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solidFill>
                  <a:schemeClr val="tx1"/>
                </a:solidFill>
              </a:rPr>
              <a:pPr rtl="0"/>
              <a:t>11</a:t>
            </a:fld>
            <a:endParaRPr lang="es-ES">
              <a:solidFill>
                <a:schemeClr val="tx1"/>
              </a:solidFill>
            </a:endParaRPr>
          </a:p>
        </p:txBody>
      </p:sp>
      <p:pic>
        <p:nvPicPr>
          <p:cNvPr id="6" name="Imagen 5">
            <a:extLst>
              <a:ext uri="{FF2B5EF4-FFF2-40B4-BE49-F238E27FC236}">
                <a16:creationId xmlns:a16="http://schemas.microsoft.com/office/drawing/2014/main" id="{ABB95CFA-1315-CA52-F4BF-75087F09F2E7}"/>
              </a:ext>
            </a:extLst>
          </p:cNvPr>
          <p:cNvPicPr>
            <a:picLocks noChangeAspect="1"/>
          </p:cNvPicPr>
          <p:nvPr/>
        </p:nvPicPr>
        <p:blipFill>
          <a:blip r:embed="rId3"/>
          <a:stretch>
            <a:fillRect/>
          </a:stretch>
        </p:blipFill>
        <p:spPr>
          <a:xfrm>
            <a:off x="5282947" y="1540904"/>
            <a:ext cx="5757588" cy="4435986"/>
          </a:xfrm>
          <a:prstGeom prst="rect">
            <a:avLst/>
          </a:prstGeom>
        </p:spPr>
      </p:pic>
      <p:graphicFrame>
        <p:nvGraphicFramePr>
          <p:cNvPr id="4" name="Tabla 3">
            <a:extLst>
              <a:ext uri="{FF2B5EF4-FFF2-40B4-BE49-F238E27FC236}">
                <a16:creationId xmlns:a16="http://schemas.microsoft.com/office/drawing/2014/main" id="{2B5B5024-96F7-520F-F210-07FCF799EC3A}"/>
              </a:ext>
            </a:extLst>
          </p:cNvPr>
          <p:cNvGraphicFramePr>
            <a:graphicFrameLocks noGrp="1"/>
          </p:cNvGraphicFramePr>
          <p:nvPr>
            <p:extLst>
              <p:ext uri="{D42A27DB-BD31-4B8C-83A1-F6EECF244321}">
                <p14:modId xmlns:p14="http://schemas.microsoft.com/office/powerpoint/2010/main" val="3560560626"/>
              </p:ext>
            </p:extLst>
          </p:nvPr>
        </p:nvGraphicFramePr>
        <p:xfrm>
          <a:off x="790638" y="1701497"/>
          <a:ext cx="3922948" cy="4114800"/>
        </p:xfrm>
        <a:graphic>
          <a:graphicData uri="http://schemas.openxmlformats.org/drawingml/2006/table">
            <a:tbl>
              <a:tblPr firstRow="1">
                <a:tableStyleId>{5C22544A-7EE6-4342-B048-85BDC9FD1C3A}</a:tableStyleId>
              </a:tblPr>
              <a:tblGrid>
                <a:gridCol w="3922948">
                  <a:extLst>
                    <a:ext uri="{9D8B030D-6E8A-4147-A177-3AD203B41FA5}">
                      <a16:colId xmlns:a16="http://schemas.microsoft.com/office/drawing/2014/main" val="2203408343"/>
                    </a:ext>
                  </a:extLst>
                </a:gridCol>
              </a:tblGrid>
              <a:tr h="1044796">
                <a:tc>
                  <a:txBody>
                    <a:bodyPr/>
                    <a:lstStyle/>
                    <a:p>
                      <a:pPr marL="0" indent="0" algn="just">
                        <a:buFontTx/>
                        <a:buNone/>
                      </a:pPr>
                      <a:r>
                        <a:rPr lang="es-ES" sz="1100" b="1" dirty="0">
                          <a:solidFill>
                            <a:schemeClr val="tx1"/>
                          </a:solidFill>
                        </a:rPr>
                        <a:t>Mejor rendimiento: </a:t>
                      </a:r>
                      <a:r>
                        <a:rPr lang="es-ES" sz="1100" b="0" dirty="0">
                          <a:solidFill>
                            <a:schemeClr val="tx1"/>
                          </a:solidFill>
                        </a:rPr>
                        <a:t>El modelo que más se acerca a la esquina superior izquierda es el </a:t>
                      </a:r>
                      <a:r>
                        <a:rPr lang="es-ES" sz="1100" b="0" dirty="0" err="1">
                          <a:solidFill>
                            <a:schemeClr val="tx1"/>
                          </a:solidFill>
                        </a:rPr>
                        <a:t>Gradient</a:t>
                      </a:r>
                      <a:r>
                        <a:rPr lang="es-ES" sz="1100" b="0" dirty="0">
                          <a:solidFill>
                            <a:schemeClr val="tx1"/>
                          </a:solidFill>
                        </a:rPr>
                        <a:t> </a:t>
                      </a:r>
                      <a:r>
                        <a:rPr lang="es-ES" sz="1100" b="0" dirty="0" err="1">
                          <a:solidFill>
                            <a:schemeClr val="tx1"/>
                          </a:solidFill>
                        </a:rPr>
                        <a:t>Boosting</a:t>
                      </a:r>
                      <a:r>
                        <a:rPr lang="es-ES" sz="1100" b="0" dirty="0">
                          <a:solidFill>
                            <a:schemeClr val="tx1"/>
                          </a:solidFill>
                        </a:rPr>
                        <a:t>, seguido de cerca por </a:t>
                      </a:r>
                      <a:r>
                        <a:rPr lang="es-ES" sz="1100" b="0" dirty="0" err="1">
                          <a:solidFill>
                            <a:schemeClr val="tx1"/>
                          </a:solidFill>
                        </a:rPr>
                        <a:t>XGBoost</a:t>
                      </a:r>
                      <a:r>
                        <a:rPr lang="es-ES" sz="1100" b="0" dirty="0">
                          <a:solidFill>
                            <a:schemeClr val="tx1"/>
                          </a:solidFill>
                        </a:rPr>
                        <a:t>. Esto significa que estos modelos tienen la mayor capacidad para clasificar correctamente los casos positivos sin clasificar incorrectamente muchos casos negativos. </a:t>
                      </a:r>
                    </a:p>
                    <a:p>
                      <a:pPr marL="0" indent="0" algn="just">
                        <a:buFont typeface="Arial" panose="020B0604020202020204" pitchFamily="34" charset="0"/>
                        <a:buNone/>
                      </a:pPr>
                      <a:endParaRPr lang="es-ES" sz="1100" b="0" dirty="0">
                        <a:solidFill>
                          <a:schemeClr val="tx1"/>
                        </a:solidFill>
                      </a:endParaRPr>
                    </a:p>
                    <a:p>
                      <a:pPr marL="0" indent="0" algn="just">
                        <a:buFontTx/>
                        <a:buNone/>
                      </a:pPr>
                      <a:r>
                        <a:rPr lang="es-ES" sz="1100" b="1" dirty="0">
                          <a:solidFill>
                            <a:schemeClr val="tx1"/>
                          </a:solidFill>
                        </a:rPr>
                        <a:t>Peor rendimiento: </a:t>
                      </a:r>
                      <a:r>
                        <a:rPr lang="es-ES" sz="1100" b="0" dirty="0">
                          <a:solidFill>
                            <a:schemeClr val="tx1"/>
                          </a:solidFill>
                        </a:rPr>
                        <a:t>El modelo con el peor rendimiento es el Árbol de Decisión. Su curva está más cerca de la diagonal, lo que indica que su desempeño es similar al de un clasificador aleatorio.</a:t>
                      </a:r>
                    </a:p>
                    <a:p>
                      <a:pPr marL="0" indent="0" algn="just">
                        <a:buFontTx/>
                        <a:buNone/>
                      </a:pPr>
                      <a:endParaRPr lang="es-ES" sz="1100" b="0" dirty="0">
                        <a:solidFill>
                          <a:schemeClr val="tx1"/>
                        </a:solidFill>
                      </a:endParaRPr>
                    </a:p>
                    <a:p>
                      <a:pPr marL="0" indent="0" algn="just">
                        <a:buFontTx/>
                        <a:buNone/>
                      </a:pPr>
                      <a:endParaRPr lang="es-ES" sz="1100" b="0" dirty="0">
                        <a:solidFill>
                          <a:schemeClr val="tx1"/>
                        </a:solidFill>
                      </a:endParaRPr>
                    </a:p>
                    <a:p>
                      <a:pPr marL="0" indent="0" algn="just">
                        <a:buFontTx/>
                        <a:buNone/>
                      </a:pPr>
                      <a:endParaRPr lang="es-ES" sz="1100" b="0" dirty="0">
                        <a:solidFill>
                          <a:schemeClr val="tx1"/>
                        </a:solidFill>
                      </a:endParaRPr>
                    </a:p>
                    <a:p>
                      <a:pPr marL="0" indent="0" algn="just">
                        <a:buFontTx/>
                        <a:buNone/>
                      </a:pPr>
                      <a:r>
                        <a:rPr lang="es-ES" sz="1100" b="0" dirty="0">
                          <a:solidFill>
                            <a:schemeClr val="tx1"/>
                          </a:solidFill>
                        </a:rPr>
                        <a:t>La elección del mejor modelo dependerá de factores como </a:t>
                      </a:r>
                      <a:r>
                        <a:rPr lang="es-ES" sz="1100" b="1" dirty="0">
                          <a:solidFill>
                            <a:schemeClr val="tx1"/>
                          </a:solidFill>
                        </a:rPr>
                        <a:t>la interpretabilidad del modelo, el tiempo de entrenamiento, la complejidad computacional </a:t>
                      </a:r>
                      <a:r>
                        <a:rPr lang="es-ES" sz="1100" b="0" dirty="0">
                          <a:solidFill>
                            <a:schemeClr val="tx1"/>
                          </a:solidFill>
                        </a:rPr>
                        <a:t>y</a:t>
                      </a:r>
                      <a:r>
                        <a:rPr lang="es-ES" sz="1100" b="1" dirty="0">
                          <a:solidFill>
                            <a:schemeClr val="tx1"/>
                          </a:solidFill>
                        </a:rPr>
                        <a:t> el requerimiento de negocio</a:t>
                      </a:r>
                      <a:r>
                        <a:rPr lang="es-ES" sz="1100" b="0" dirty="0">
                          <a:solidFill>
                            <a:schemeClr val="tx1"/>
                          </a:solidFill>
                        </a:rPr>
                        <a:t>. </a:t>
                      </a:r>
                    </a:p>
                    <a:p>
                      <a:pPr marL="0" indent="0" algn="just">
                        <a:buFontTx/>
                        <a:buNone/>
                      </a:pPr>
                      <a:endParaRPr lang="es-ES" sz="1100" b="0" dirty="0">
                        <a:solidFill>
                          <a:schemeClr val="tx1"/>
                        </a:solidFill>
                      </a:endParaRPr>
                    </a:p>
                    <a:p>
                      <a:pPr marL="0" indent="0" algn="just">
                        <a:buFontTx/>
                        <a:buNone/>
                      </a:pPr>
                      <a:r>
                        <a:rPr lang="es-ES" sz="1100" b="0" dirty="0">
                          <a:solidFill>
                            <a:schemeClr val="tx1"/>
                          </a:solidFill>
                        </a:rPr>
                        <a:t>Por lo que, si se considera factores como la simplicidad del modelo o el tiempo de entrenamiento, </a:t>
                      </a:r>
                      <a:r>
                        <a:rPr lang="es-ES" sz="1100" b="0" dirty="0" err="1">
                          <a:solidFill>
                            <a:schemeClr val="tx1"/>
                          </a:solidFill>
                        </a:rPr>
                        <a:t>Logistic</a:t>
                      </a:r>
                      <a:r>
                        <a:rPr lang="es-ES" sz="1100" b="0" dirty="0">
                          <a:solidFill>
                            <a:schemeClr val="tx1"/>
                          </a:solidFill>
                        </a:rPr>
                        <a:t> </a:t>
                      </a:r>
                      <a:r>
                        <a:rPr lang="es-ES" sz="1100" b="0" dirty="0" err="1">
                          <a:solidFill>
                            <a:schemeClr val="tx1"/>
                          </a:solidFill>
                        </a:rPr>
                        <a:t>Regression</a:t>
                      </a:r>
                      <a:r>
                        <a:rPr lang="es-ES" sz="1100" b="0" dirty="0">
                          <a:solidFill>
                            <a:schemeClr val="tx1"/>
                          </a:solidFill>
                        </a:rPr>
                        <a:t> podría ser una opción adecuada, ya que tiene mayor interpretabilidad, es más sencillo y rápido de entrenar en comparación con los métodos de </a:t>
                      </a:r>
                      <a:r>
                        <a:rPr lang="es-ES" sz="1100" b="0" dirty="0" err="1">
                          <a:solidFill>
                            <a:schemeClr val="tx1"/>
                          </a:solidFill>
                        </a:rPr>
                        <a:t>boosting</a:t>
                      </a:r>
                      <a:r>
                        <a:rPr lang="es-ES" sz="1100" b="0" dirty="0">
                          <a:solidFill>
                            <a:schemeClr val="tx1"/>
                          </a:solidFill>
                        </a:rPr>
                        <a:t>.</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pic>
        <p:nvPicPr>
          <p:cNvPr id="5" name="Picture 2" descr="Datecsa - Banco de Alimentos Cali">
            <a:extLst>
              <a:ext uri="{FF2B5EF4-FFF2-40B4-BE49-F238E27FC236}">
                <a16:creationId xmlns:a16="http://schemas.microsoft.com/office/drawing/2014/main" id="{4D0CCD81-B44B-134C-D701-0A4B4294A9D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62F1942-D278-8AB8-C22C-9C224FB0D2F9}"/>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CuadroTexto 7">
            <a:extLst>
              <a:ext uri="{FF2B5EF4-FFF2-40B4-BE49-F238E27FC236}">
                <a16:creationId xmlns:a16="http://schemas.microsoft.com/office/drawing/2014/main" id="{A7A9847D-F973-AD99-0979-03B942D7A9E8}"/>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Interpretación ROC</a:t>
            </a:r>
          </a:p>
        </p:txBody>
      </p:sp>
    </p:spTree>
    <p:extLst>
      <p:ext uri="{BB962C8B-B14F-4D97-AF65-F5344CB8AC3E}">
        <p14:creationId xmlns:p14="http://schemas.microsoft.com/office/powerpoint/2010/main" val="1194332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03BAA-C391-5EAC-D8C1-742C5DB437BD}"/>
            </a:ext>
          </a:extLst>
        </p:cNvPr>
        <p:cNvGrpSpPr/>
        <p:nvPr/>
      </p:nvGrpSpPr>
      <p:grpSpPr>
        <a:xfrm>
          <a:off x="0" y="0"/>
          <a:ext cx="0" cy="0"/>
          <a:chOff x="0" y="0"/>
          <a:chExt cx="0" cy="0"/>
        </a:xfrm>
      </p:grpSpPr>
      <p:pic>
        <p:nvPicPr>
          <p:cNvPr id="4098" name="Picture 2" descr="Los 10 mejores negocios para emprender en 2024">
            <a:extLst>
              <a:ext uri="{FF2B5EF4-FFF2-40B4-BE49-F238E27FC236}">
                <a16:creationId xmlns:a16="http://schemas.microsoft.com/office/drawing/2014/main" id="{E4666A90-D5A1-021A-23CC-4EE481F2FD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426"/>
          <a:stretch/>
        </p:blipFill>
        <p:spPr bwMode="auto">
          <a:xfrm>
            <a:off x="-31301" y="0"/>
            <a:ext cx="65389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número de diapositiva 1">
            <a:extLst>
              <a:ext uri="{FF2B5EF4-FFF2-40B4-BE49-F238E27FC236}">
                <a16:creationId xmlns:a16="http://schemas.microsoft.com/office/drawing/2014/main" id="{70B7235E-44C9-8E0B-512E-3CDE7902C336}"/>
              </a:ext>
            </a:extLst>
          </p:cNvPr>
          <p:cNvSpPr>
            <a:spLocks noGrp="1"/>
          </p:cNvSpPr>
          <p:nvPr>
            <p:ph type="sldNum" sz="quarter" idx="12"/>
          </p:nvPr>
        </p:nvSpPr>
        <p:spPr/>
        <p:txBody>
          <a:bodyPr/>
          <a:lstStyle/>
          <a:p>
            <a:pPr rtl="0"/>
            <a:fld id="{5AE1514C-5E56-4738-A1FF-4B1CFD2A3E36}" type="slidenum">
              <a:rPr lang="es-ES" noProof="0" smtClean="0"/>
              <a:t>12</a:t>
            </a:fld>
            <a:endParaRPr lang="es-ES" noProof="0"/>
          </a:p>
        </p:txBody>
      </p:sp>
      <p:pic>
        <p:nvPicPr>
          <p:cNvPr id="3" name="Imagen 2">
            <a:extLst>
              <a:ext uri="{FF2B5EF4-FFF2-40B4-BE49-F238E27FC236}">
                <a16:creationId xmlns:a16="http://schemas.microsoft.com/office/drawing/2014/main" id="{3256B242-4042-27E8-EAEF-52745602FA7F}"/>
              </a:ext>
            </a:extLst>
          </p:cNvPr>
          <p:cNvPicPr>
            <a:picLocks noChangeAspect="1"/>
          </p:cNvPicPr>
          <p:nvPr/>
        </p:nvPicPr>
        <p:blipFill>
          <a:blip r:embed="rId3">
            <a:lum bright="70000" contrast="-70000"/>
            <a:alphaModFix amt="70000"/>
          </a:blip>
          <a:stretch>
            <a:fillRect/>
          </a:stretch>
        </p:blipFill>
        <p:spPr>
          <a:xfrm>
            <a:off x="-31301" y="0"/>
            <a:ext cx="12223301" cy="6858000"/>
          </a:xfrm>
          <a:prstGeom prst="rect">
            <a:avLst/>
          </a:prstGeom>
        </p:spPr>
      </p:pic>
      <p:sp>
        <p:nvSpPr>
          <p:cNvPr id="7" name="Cuadro de texto 1">
            <a:extLst>
              <a:ext uri="{FF2B5EF4-FFF2-40B4-BE49-F238E27FC236}">
                <a16:creationId xmlns:a16="http://schemas.microsoft.com/office/drawing/2014/main" id="{B03E7636-EF24-06E8-0D10-208899C15F68}"/>
              </a:ext>
            </a:extLst>
          </p:cNvPr>
          <p:cNvSpPr txBox="1"/>
          <p:nvPr/>
        </p:nvSpPr>
        <p:spPr>
          <a:xfrm>
            <a:off x="6661750" y="1982629"/>
            <a:ext cx="4338320" cy="798680"/>
          </a:xfrm>
          <a:prstGeom prst="rect">
            <a:avLst/>
          </a:prstGeom>
          <a:noFill/>
        </p:spPr>
        <p:txBody>
          <a:bodyPr wrap="square" rtlCol="0">
            <a:spAutoFit/>
          </a:bodyPr>
          <a:lstStyle/>
          <a:p>
            <a:pPr marL="285750" marR="0" lvl="0" indent="-285750" defTabSz="914400" rtl="0" eaLnBrk="1" fontAlgn="auto" latinLnBrk="0" hangingPunct="1">
              <a:lnSpc>
                <a:spcPct val="85000"/>
              </a:lnSpc>
              <a:spcBef>
                <a:spcPts val="0"/>
              </a:spcBef>
              <a:spcAft>
                <a:spcPts val="0"/>
              </a:spcAft>
              <a:buClrTx/>
              <a:buSzTx/>
              <a:buFont typeface="Arial" panose="020B0604020202020204" pitchFamily="34" charset="0"/>
              <a:buChar char="•"/>
              <a:tabLst/>
              <a:defRPr/>
            </a:pPr>
            <a:r>
              <a:rPr lang="es-ES" b="1" i="0" u="none" strike="noStrike" kern="1200" cap="none" spc="-20" normalizeH="0" dirty="0">
                <a:ln>
                  <a:noFill/>
                </a:ln>
                <a:solidFill>
                  <a:schemeClr val="tx1">
                    <a:lumMod val="65000"/>
                    <a:lumOff val="35000"/>
                  </a:schemeClr>
                </a:solidFill>
                <a:effectLst/>
                <a:uLnTx/>
                <a:uFillTx/>
                <a:latin typeface="Segoe UI"/>
                <a:ea typeface="+mn-ea"/>
                <a:cs typeface="+mn-cs"/>
              </a:rPr>
              <a:t>Hallazgos / Conclusiones</a:t>
            </a:r>
          </a:p>
          <a:p>
            <a:pPr marL="285750" marR="0" lvl="0" indent="-285750" defTabSz="914400" rtl="0" eaLnBrk="1" fontAlgn="auto" latinLnBrk="0" hangingPunct="1">
              <a:lnSpc>
                <a:spcPct val="85000"/>
              </a:lnSpc>
              <a:spcBef>
                <a:spcPts val="0"/>
              </a:spcBef>
              <a:spcAft>
                <a:spcPts val="0"/>
              </a:spcAft>
              <a:buClrTx/>
              <a:buSzTx/>
              <a:buFont typeface="Arial" panose="020B0604020202020204" pitchFamily="34" charset="0"/>
              <a:buChar char="•"/>
              <a:tabLst/>
              <a:defRPr/>
            </a:pPr>
            <a:endParaRPr lang="es-ES" b="1" i="0" u="none" strike="noStrike" kern="1200" cap="none" spc="-20" normalizeH="0" dirty="0">
              <a:ln>
                <a:noFill/>
              </a:ln>
              <a:solidFill>
                <a:schemeClr val="tx1">
                  <a:lumMod val="65000"/>
                  <a:lumOff val="35000"/>
                </a:schemeClr>
              </a:solidFill>
              <a:effectLst/>
              <a:uLnTx/>
              <a:uFillTx/>
              <a:latin typeface="Segoe UI"/>
              <a:ea typeface="+mn-ea"/>
              <a:cs typeface="+mn-cs"/>
            </a:endParaRPr>
          </a:p>
          <a:p>
            <a:pPr marL="285750" marR="0" lvl="0" indent="-285750" defTabSz="914400" rtl="0" eaLnBrk="1" fontAlgn="auto" latinLnBrk="0" hangingPunct="1">
              <a:lnSpc>
                <a:spcPct val="85000"/>
              </a:lnSpc>
              <a:spcBef>
                <a:spcPts val="0"/>
              </a:spcBef>
              <a:spcAft>
                <a:spcPts val="0"/>
              </a:spcAft>
              <a:buClrTx/>
              <a:buSzTx/>
              <a:buFont typeface="Arial" panose="020B0604020202020204" pitchFamily="34" charset="0"/>
              <a:buChar char="•"/>
              <a:tabLst/>
              <a:defRPr/>
            </a:pPr>
            <a:r>
              <a:rPr lang="es-ES" b="1" i="0" u="none" strike="noStrike" kern="1200" cap="none" spc="-20" normalizeH="0" dirty="0">
                <a:ln>
                  <a:noFill/>
                </a:ln>
                <a:solidFill>
                  <a:schemeClr val="tx1">
                    <a:lumMod val="65000"/>
                    <a:lumOff val="35000"/>
                  </a:schemeClr>
                </a:solidFill>
                <a:effectLst/>
                <a:uLnTx/>
                <a:uFillTx/>
                <a:latin typeface="Segoe UI"/>
                <a:ea typeface="+mn-ea"/>
                <a:cs typeface="+mn-cs"/>
              </a:rPr>
              <a:t>Propuesta de estrategia</a:t>
            </a:r>
          </a:p>
        </p:txBody>
      </p:sp>
      <p:pic>
        <p:nvPicPr>
          <p:cNvPr id="8" name="Picture 2" descr="Datecsa - Banco de Alimentos Cali">
            <a:extLst>
              <a:ext uri="{FF2B5EF4-FFF2-40B4-BE49-F238E27FC236}">
                <a16:creationId xmlns:a16="http://schemas.microsoft.com/office/drawing/2014/main" id="{2A4DCBEC-F5A1-0AD7-D262-24CB63B9B8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7008" y="206113"/>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6822CFF2-3B96-E260-100E-7D6C05550211}"/>
              </a:ext>
            </a:extLst>
          </p:cNvPr>
          <p:cNvSpPr/>
          <p:nvPr/>
        </p:nvSpPr>
        <p:spPr>
          <a:xfrm>
            <a:off x="5926490" y="1048968"/>
            <a:ext cx="3827110" cy="59963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CuadroTexto 5">
            <a:extLst>
              <a:ext uri="{FF2B5EF4-FFF2-40B4-BE49-F238E27FC236}">
                <a16:creationId xmlns:a16="http://schemas.microsoft.com/office/drawing/2014/main" id="{2BE30C52-C97C-F617-4D7D-4BD373BF8B91}"/>
              </a:ext>
            </a:extLst>
          </p:cNvPr>
          <p:cNvSpPr txBox="1"/>
          <p:nvPr/>
        </p:nvSpPr>
        <p:spPr>
          <a:xfrm>
            <a:off x="6234765" y="1145654"/>
            <a:ext cx="3210560" cy="406265"/>
          </a:xfrm>
          <a:prstGeom prst="rect">
            <a:avLst/>
          </a:prstGeom>
          <a:noFill/>
        </p:spPr>
        <p:txBody>
          <a:bodyPr wrap="square">
            <a:spAutoFit/>
          </a:bodyPr>
          <a:lstStyle/>
          <a:p>
            <a:pPr marL="0" marR="0" lvl="0" indent="0" defTabSz="914400" rtl="0" eaLnBrk="1" fontAlgn="auto" latinLnBrk="0" hangingPunct="1">
              <a:lnSpc>
                <a:spcPct val="85000"/>
              </a:lnSpc>
              <a:spcBef>
                <a:spcPts val="0"/>
              </a:spcBef>
              <a:spcAft>
                <a:spcPts val="0"/>
              </a:spcAft>
              <a:buClrTx/>
              <a:buSzTx/>
              <a:buFontTx/>
              <a:buNone/>
              <a:tabLst/>
              <a:defRPr/>
            </a:pPr>
            <a:r>
              <a:rPr lang="es-ES" sz="2400" b="1" i="0" u="none" strike="noStrike" kern="1200" cap="none" spc="-20" normalizeH="0" dirty="0">
                <a:ln>
                  <a:noFill/>
                </a:ln>
                <a:solidFill>
                  <a:srgbClr val="C00000"/>
                </a:solidFill>
                <a:effectLst/>
                <a:uLnTx/>
                <a:uFillTx/>
                <a:latin typeface="Segoe UI"/>
                <a:ea typeface="+mn-ea"/>
                <a:cs typeface="+mn-cs"/>
              </a:rPr>
              <a:t>CAPITULO NEGOCIO</a:t>
            </a:r>
          </a:p>
        </p:txBody>
      </p:sp>
    </p:spTree>
    <p:extLst>
      <p:ext uri="{BB962C8B-B14F-4D97-AF65-F5344CB8AC3E}">
        <p14:creationId xmlns:p14="http://schemas.microsoft.com/office/powerpoint/2010/main" val="1858528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20215-0049-4B4E-429D-236B9CA0E706}"/>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CF7BAF3-C751-4CE4-CA4D-9BD80EF85C35}"/>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pPr rtl="0"/>
              <a:t>13</a:t>
            </a:fld>
            <a:endParaRPr lang="es-ES"/>
          </a:p>
        </p:txBody>
      </p:sp>
      <p:pic>
        <p:nvPicPr>
          <p:cNvPr id="15" name="Imagen 14">
            <a:extLst>
              <a:ext uri="{FF2B5EF4-FFF2-40B4-BE49-F238E27FC236}">
                <a16:creationId xmlns:a16="http://schemas.microsoft.com/office/drawing/2014/main" id="{96E1A38A-861A-EF89-4E68-12E24DA96B0F}"/>
              </a:ext>
            </a:extLst>
          </p:cNvPr>
          <p:cNvPicPr>
            <a:picLocks noChangeAspect="1"/>
          </p:cNvPicPr>
          <p:nvPr/>
        </p:nvPicPr>
        <p:blipFill>
          <a:blip r:embed="rId3"/>
          <a:stretch>
            <a:fillRect/>
          </a:stretch>
        </p:blipFill>
        <p:spPr>
          <a:xfrm>
            <a:off x="1674600" y="3236413"/>
            <a:ext cx="8842799" cy="2791421"/>
          </a:xfrm>
          <a:prstGeom prst="rect">
            <a:avLst/>
          </a:prstGeom>
        </p:spPr>
      </p:pic>
      <p:sp>
        <p:nvSpPr>
          <p:cNvPr id="17" name="Título 2">
            <a:extLst>
              <a:ext uri="{FF2B5EF4-FFF2-40B4-BE49-F238E27FC236}">
                <a16:creationId xmlns:a16="http://schemas.microsoft.com/office/drawing/2014/main" id="{92BA1F61-8DB7-D487-0AA0-D928262F09D8}"/>
              </a:ext>
            </a:extLst>
          </p:cNvPr>
          <p:cNvSpPr txBox="1">
            <a:spLocks/>
          </p:cNvSpPr>
          <p:nvPr/>
        </p:nvSpPr>
        <p:spPr>
          <a:xfrm>
            <a:off x="0" y="7491"/>
            <a:ext cx="12192000" cy="1050758"/>
          </a:xfrm>
          <a:prstGeom prst="rect">
            <a:avLst/>
          </a:prstGeom>
          <a:solidFill>
            <a:schemeClr val="bg1">
              <a:lumMod val="95000"/>
            </a:schemeClr>
          </a:solidFill>
        </p:spPr>
        <p:txBody>
          <a:bodyPr vert="horz" lIns="457200" tIns="45720" rIns="457200" bIns="45720" rtlCol="0" anchor="ctr">
            <a:noAutofit/>
          </a:bodyPr>
          <a:lst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a:lstStyle>
          <a:p>
            <a:r>
              <a:rPr lang="es-ES" dirty="0">
                <a:solidFill>
                  <a:srgbClr val="C00000"/>
                </a:solidFill>
              </a:rPr>
              <a:t>HALLAZGOS Y CONCLUSIONES</a:t>
            </a:r>
          </a:p>
        </p:txBody>
      </p:sp>
      <p:pic>
        <p:nvPicPr>
          <p:cNvPr id="18" name="Picture 2" descr="Datecsa - Banco de Alimentos Cali">
            <a:extLst>
              <a:ext uri="{FF2B5EF4-FFF2-40B4-BE49-F238E27FC236}">
                <a16:creationId xmlns:a16="http://schemas.microsoft.com/office/drawing/2014/main" id="{7B4E62A7-01D1-5AA0-1FFD-09F2325EA53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B025C769-7BB8-538E-1E8E-FB2692DDD681}"/>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CO" sz="1600" b="1" dirty="0">
              <a:solidFill>
                <a:srgbClr val="C00000"/>
              </a:solidFill>
            </a:endParaRPr>
          </a:p>
        </p:txBody>
      </p:sp>
      <p:graphicFrame>
        <p:nvGraphicFramePr>
          <p:cNvPr id="20" name="Tabla 19">
            <a:extLst>
              <a:ext uri="{FF2B5EF4-FFF2-40B4-BE49-F238E27FC236}">
                <a16:creationId xmlns:a16="http://schemas.microsoft.com/office/drawing/2014/main" id="{F8B083CA-1842-6A5A-0918-AB4F327DC5A8}"/>
              </a:ext>
            </a:extLst>
          </p:cNvPr>
          <p:cNvGraphicFramePr>
            <a:graphicFrameLocks noGrp="1"/>
          </p:cNvGraphicFramePr>
          <p:nvPr>
            <p:extLst>
              <p:ext uri="{D42A27DB-BD31-4B8C-83A1-F6EECF244321}">
                <p14:modId xmlns:p14="http://schemas.microsoft.com/office/powerpoint/2010/main" val="2270617982"/>
              </p:ext>
            </p:extLst>
          </p:nvPr>
        </p:nvGraphicFramePr>
        <p:xfrm>
          <a:off x="1212352" y="1850305"/>
          <a:ext cx="9767296" cy="1097280"/>
        </p:xfrm>
        <a:graphic>
          <a:graphicData uri="http://schemas.openxmlformats.org/drawingml/2006/table">
            <a:tbl>
              <a:tblPr firstRow="1">
                <a:tableStyleId>{5C22544A-7EE6-4342-B048-85BDC9FD1C3A}</a:tableStyleId>
              </a:tblPr>
              <a:tblGrid>
                <a:gridCol w="9767296">
                  <a:extLst>
                    <a:ext uri="{9D8B030D-6E8A-4147-A177-3AD203B41FA5}">
                      <a16:colId xmlns:a16="http://schemas.microsoft.com/office/drawing/2014/main" val="2203408343"/>
                    </a:ext>
                  </a:extLst>
                </a:gridCol>
              </a:tblGrid>
              <a:tr h="1044796">
                <a:tc>
                  <a:txBody>
                    <a:bodyPr/>
                    <a:lstStyle/>
                    <a:p>
                      <a:pPr marL="0" indent="0" algn="just">
                        <a:buFontTx/>
                        <a:buNone/>
                      </a:pPr>
                      <a:r>
                        <a:rPr lang="es-ES" sz="1100" b="1" dirty="0">
                          <a:solidFill>
                            <a:schemeClr val="tx1"/>
                          </a:solidFill>
                        </a:rPr>
                        <a:t>Actividad: </a:t>
                      </a:r>
                      <a:r>
                        <a:rPr lang="es-ES" sz="1100" b="0" dirty="0">
                          <a:solidFill>
                            <a:schemeClr val="tx1"/>
                          </a:solidFill>
                        </a:rPr>
                        <a:t>El mes con mayor actividad de marketing fue mayo, pero los clientes rechazaron las ofertas de depósitos a plazo (-34,49% de tasa efectiva). Se recomienda enfocar las campañas en marzo, septiembre, octubre y diciembre, ya que estos meses mostraron mejores resultados y diciembre tuvo la menor actividad, lo que podría indicar una oportunidad.</a:t>
                      </a:r>
                    </a:p>
                    <a:p>
                      <a:pPr marL="0" indent="0" algn="just">
                        <a:buFont typeface="Arial" panose="020B0604020202020204" pitchFamily="34" charset="0"/>
                        <a:buNone/>
                      </a:pPr>
                      <a:endParaRPr lang="es-ES" sz="1100" b="0" dirty="0">
                        <a:solidFill>
                          <a:schemeClr val="tx1"/>
                        </a:solidFill>
                      </a:endParaRPr>
                    </a:p>
                    <a:p>
                      <a:pPr marL="0" indent="0" algn="just">
                        <a:buFontTx/>
                        <a:buNone/>
                      </a:pPr>
                      <a:r>
                        <a:rPr lang="es-ES" sz="1100" b="1" dirty="0">
                          <a:solidFill>
                            <a:schemeClr val="tx1"/>
                          </a:solidFill>
                        </a:rPr>
                        <a:t>Estacionalidad: </a:t>
                      </a:r>
                      <a:r>
                        <a:rPr lang="es-ES" sz="1100" b="0" dirty="0">
                          <a:solidFill>
                            <a:schemeClr val="tx1"/>
                          </a:solidFill>
                        </a:rPr>
                        <a:t>Los clientes potenciales optaron por suscribir depósitos a plazo durante las temporadas de otoño e invierno. La próxima campaña de marketing debería centrar su actividad a lo largo de estas temporadas.</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21" name="CuadroTexto 20">
            <a:extLst>
              <a:ext uri="{FF2B5EF4-FFF2-40B4-BE49-F238E27FC236}">
                <a16:creationId xmlns:a16="http://schemas.microsoft.com/office/drawing/2014/main" id="{4483EF70-787D-5495-24EB-049FE42F7736}"/>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Temporalidad</a:t>
            </a:r>
          </a:p>
        </p:txBody>
      </p:sp>
    </p:spTree>
    <p:extLst>
      <p:ext uri="{BB962C8B-B14F-4D97-AF65-F5344CB8AC3E}">
        <p14:creationId xmlns:p14="http://schemas.microsoft.com/office/powerpoint/2010/main" val="897102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390D6-DC73-9CA6-9F59-9485A6C606C6}"/>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70BC26B0-20DC-8525-2F7D-1B237AAF2D01}"/>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pPr rtl="0"/>
              <a:t>14</a:t>
            </a:fld>
            <a:endParaRPr lang="es-ES"/>
          </a:p>
        </p:txBody>
      </p:sp>
      <p:sp>
        <p:nvSpPr>
          <p:cNvPr id="17" name="Título 2">
            <a:extLst>
              <a:ext uri="{FF2B5EF4-FFF2-40B4-BE49-F238E27FC236}">
                <a16:creationId xmlns:a16="http://schemas.microsoft.com/office/drawing/2014/main" id="{00945845-28D4-909D-C8EC-624AA536D9BA}"/>
              </a:ext>
            </a:extLst>
          </p:cNvPr>
          <p:cNvSpPr txBox="1">
            <a:spLocks/>
          </p:cNvSpPr>
          <p:nvPr/>
        </p:nvSpPr>
        <p:spPr>
          <a:xfrm>
            <a:off x="0" y="7491"/>
            <a:ext cx="12192000" cy="1050758"/>
          </a:xfrm>
          <a:prstGeom prst="rect">
            <a:avLst/>
          </a:prstGeom>
          <a:solidFill>
            <a:schemeClr val="bg1">
              <a:lumMod val="95000"/>
            </a:schemeClr>
          </a:solidFill>
        </p:spPr>
        <p:txBody>
          <a:bodyPr vert="horz" lIns="457200" tIns="45720" rIns="457200" bIns="45720" rtlCol="0" anchor="ctr">
            <a:noAutofit/>
          </a:bodyPr>
          <a:lst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a:lstStyle>
          <a:p>
            <a:r>
              <a:rPr lang="es-ES" dirty="0">
                <a:solidFill>
                  <a:srgbClr val="C00000"/>
                </a:solidFill>
              </a:rPr>
              <a:t>HALLAZGOS Y CONCLUSIONES</a:t>
            </a:r>
          </a:p>
        </p:txBody>
      </p:sp>
      <p:pic>
        <p:nvPicPr>
          <p:cNvPr id="18" name="Picture 2" descr="Datecsa - Banco de Alimentos Cali">
            <a:extLst>
              <a:ext uri="{FF2B5EF4-FFF2-40B4-BE49-F238E27FC236}">
                <a16:creationId xmlns:a16="http://schemas.microsoft.com/office/drawing/2014/main" id="{F33691DE-E4DA-F6A4-4D6E-B9D56F07EE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02926648-7F1C-3ED5-56C5-AEE327E0F777}"/>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CO" sz="1600" b="1" dirty="0">
              <a:solidFill>
                <a:srgbClr val="C00000"/>
              </a:solidFill>
            </a:endParaRPr>
          </a:p>
        </p:txBody>
      </p:sp>
      <p:graphicFrame>
        <p:nvGraphicFramePr>
          <p:cNvPr id="20" name="Tabla 19">
            <a:extLst>
              <a:ext uri="{FF2B5EF4-FFF2-40B4-BE49-F238E27FC236}">
                <a16:creationId xmlns:a16="http://schemas.microsoft.com/office/drawing/2014/main" id="{3421C7AC-340C-0FA7-3896-D0B9002745E7}"/>
              </a:ext>
            </a:extLst>
          </p:cNvPr>
          <p:cNvGraphicFramePr>
            <a:graphicFrameLocks noGrp="1"/>
          </p:cNvGraphicFramePr>
          <p:nvPr>
            <p:extLst>
              <p:ext uri="{D42A27DB-BD31-4B8C-83A1-F6EECF244321}">
                <p14:modId xmlns:p14="http://schemas.microsoft.com/office/powerpoint/2010/main" val="2677745060"/>
              </p:ext>
            </p:extLst>
          </p:nvPr>
        </p:nvGraphicFramePr>
        <p:xfrm>
          <a:off x="1212352" y="1845943"/>
          <a:ext cx="9767296" cy="1264920"/>
        </p:xfrm>
        <a:graphic>
          <a:graphicData uri="http://schemas.openxmlformats.org/drawingml/2006/table">
            <a:tbl>
              <a:tblPr firstRow="1">
                <a:tableStyleId>{5C22544A-7EE6-4342-B048-85BDC9FD1C3A}</a:tableStyleId>
              </a:tblPr>
              <a:tblGrid>
                <a:gridCol w="9767296">
                  <a:extLst>
                    <a:ext uri="{9D8B030D-6E8A-4147-A177-3AD203B41FA5}">
                      <a16:colId xmlns:a16="http://schemas.microsoft.com/office/drawing/2014/main" val="2203408343"/>
                    </a:ext>
                  </a:extLst>
                </a:gridCol>
              </a:tblGrid>
              <a:tr h="1044796">
                <a:tc>
                  <a:txBody>
                    <a:bodyPr/>
                    <a:lstStyle/>
                    <a:p>
                      <a:pPr marL="0" indent="0" algn="just">
                        <a:buFontTx/>
                        <a:buNone/>
                      </a:pPr>
                      <a:r>
                        <a:rPr lang="es-ES" sz="1100" b="1" dirty="0">
                          <a:solidFill>
                            <a:schemeClr val="tx1"/>
                          </a:solidFill>
                        </a:rPr>
                        <a:t>Llamadas: </a:t>
                      </a:r>
                      <a:r>
                        <a:rPr lang="es-ES" sz="1100" b="0" dirty="0">
                          <a:solidFill>
                            <a:schemeClr val="tx1"/>
                          </a:solidFill>
                        </a:rPr>
                        <a:t>Se debe implementar una política que establezca que no se deben aplicar más de 3 llamadas a un mismo cliente potencial para ahorrar tiempo y esfuerzo en la captación de nuevos clientes potenciales. Se evidenció que cuanto más se llame al mismo cliente potencial, más probable será que se niegue a abrir un depósito a plazo.</a:t>
                      </a:r>
                    </a:p>
                    <a:p>
                      <a:pPr marL="0" indent="0" algn="just">
                        <a:buFont typeface="Arial" panose="020B0604020202020204" pitchFamily="34" charset="0"/>
                        <a:buNone/>
                      </a:pPr>
                      <a:endParaRPr lang="es-ES" sz="1100" b="0" dirty="0">
                        <a:solidFill>
                          <a:schemeClr val="tx1"/>
                        </a:solidFill>
                      </a:endParaRPr>
                    </a:p>
                    <a:p>
                      <a:pPr marL="0" indent="0" algn="just">
                        <a:buFontTx/>
                        <a:buNone/>
                      </a:pPr>
                      <a:r>
                        <a:rPr lang="es-ES" sz="1100" b="1" dirty="0">
                          <a:solidFill>
                            <a:schemeClr val="tx1"/>
                          </a:solidFill>
                        </a:rPr>
                        <a:t>Categoría de edad: </a:t>
                      </a:r>
                      <a:r>
                        <a:rPr lang="es-ES" sz="1100" b="0" dirty="0">
                          <a:solidFill>
                            <a:schemeClr val="tx1"/>
                          </a:solidFill>
                        </a:rPr>
                        <a:t>La próxima campaña de marketing del banco debe dirigirse a clientes potenciales de entre 20 y 60 años o más. La categoría más joven tenía un 60% de posibilidades de suscribir un depósito a plazo, mientras que la categoría más antigua tenía un 76% de posibilidades de suscribir un depósito a plazo. </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21" name="CuadroTexto 20">
            <a:extLst>
              <a:ext uri="{FF2B5EF4-FFF2-40B4-BE49-F238E27FC236}">
                <a16:creationId xmlns:a16="http://schemas.microsoft.com/office/drawing/2014/main" id="{54B230F9-F15F-7075-6721-14D51B5AA092}"/>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Frecuencia</a:t>
            </a:r>
          </a:p>
        </p:txBody>
      </p:sp>
      <p:pic>
        <p:nvPicPr>
          <p:cNvPr id="3" name="Imagen 2">
            <a:extLst>
              <a:ext uri="{FF2B5EF4-FFF2-40B4-BE49-F238E27FC236}">
                <a16:creationId xmlns:a16="http://schemas.microsoft.com/office/drawing/2014/main" id="{90D2C564-CA7B-076D-2B02-32AD0A8B4631}"/>
              </a:ext>
            </a:extLst>
          </p:cNvPr>
          <p:cNvPicPr>
            <a:picLocks noChangeAspect="1"/>
          </p:cNvPicPr>
          <p:nvPr/>
        </p:nvPicPr>
        <p:blipFill>
          <a:blip r:embed="rId4"/>
          <a:stretch>
            <a:fillRect/>
          </a:stretch>
        </p:blipFill>
        <p:spPr>
          <a:xfrm>
            <a:off x="911840" y="3639845"/>
            <a:ext cx="5184160" cy="2143043"/>
          </a:xfrm>
          <a:prstGeom prst="rect">
            <a:avLst/>
          </a:prstGeom>
        </p:spPr>
      </p:pic>
      <p:pic>
        <p:nvPicPr>
          <p:cNvPr id="5" name="Imagen 4">
            <a:extLst>
              <a:ext uri="{FF2B5EF4-FFF2-40B4-BE49-F238E27FC236}">
                <a16:creationId xmlns:a16="http://schemas.microsoft.com/office/drawing/2014/main" id="{C360E4AF-C314-E111-B95B-024AD7600B01}"/>
              </a:ext>
            </a:extLst>
          </p:cNvPr>
          <p:cNvPicPr>
            <a:picLocks noChangeAspect="1"/>
          </p:cNvPicPr>
          <p:nvPr/>
        </p:nvPicPr>
        <p:blipFill>
          <a:blip r:embed="rId5"/>
          <a:stretch>
            <a:fillRect/>
          </a:stretch>
        </p:blipFill>
        <p:spPr>
          <a:xfrm>
            <a:off x="6805180" y="3221194"/>
            <a:ext cx="4015220" cy="2985137"/>
          </a:xfrm>
          <a:prstGeom prst="rect">
            <a:avLst/>
          </a:prstGeom>
        </p:spPr>
      </p:pic>
    </p:spTree>
    <p:extLst>
      <p:ext uri="{BB962C8B-B14F-4D97-AF65-F5344CB8AC3E}">
        <p14:creationId xmlns:p14="http://schemas.microsoft.com/office/powerpoint/2010/main" val="3715218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C977A-CBD0-6E7D-CBB9-64AF801ECC03}"/>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2EA7849-DDB3-CE48-3B55-ADB9CA1A3C75}"/>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pPr rtl="0"/>
              <a:t>15</a:t>
            </a:fld>
            <a:endParaRPr lang="es-ES"/>
          </a:p>
        </p:txBody>
      </p:sp>
      <p:sp>
        <p:nvSpPr>
          <p:cNvPr id="17" name="Título 2">
            <a:extLst>
              <a:ext uri="{FF2B5EF4-FFF2-40B4-BE49-F238E27FC236}">
                <a16:creationId xmlns:a16="http://schemas.microsoft.com/office/drawing/2014/main" id="{75A594F7-C9F8-6D33-6AD0-A543DA19BA08}"/>
              </a:ext>
            </a:extLst>
          </p:cNvPr>
          <p:cNvSpPr txBox="1">
            <a:spLocks/>
          </p:cNvSpPr>
          <p:nvPr/>
        </p:nvSpPr>
        <p:spPr>
          <a:xfrm>
            <a:off x="0" y="7491"/>
            <a:ext cx="12192000" cy="1050758"/>
          </a:xfrm>
          <a:prstGeom prst="rect">
            <a:avLst/>
          </a:prstGeom>
          <a:solidFill>
            <a:schemeClr val="bg1">
              <a:lumMod val="95000"/>
            </a:schemeClr>
          </a:solidFill>
        </p:spPr>
        <p:txBody>
          <a:bodyPr vert="horz" lIns="457200" tIns="45720" rIns="457200" bIns="45720" rtlCol="0" anchor="ctr">
            <a:noAutofit/>
          </a:bodyPr>
          <a:lst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a:lstStyle>
          <a:p>
            <a:r>
              <a:rPr lang="es-ES" dirty="0">
                <a:solidFill>
                  <a:srgbClr val="C00000"/>
                </a:solidFill>
              </a:rPr>
              <a:t>HALLAZGOS Y CONCLUSIONES</a:t>
            </a:r>
          </a:p>
        </p:txBody>
      </p:sp>
      <p:pic>
        <p:nvPicPr>
          <p:cNvPr id="18" name="Picture 2" descr="Datecsa - Banco de Alimentos Cali">
            <a:extLst>
              <a:ext uri="{FF2B5EF4-FFF2-40B4-BE49-F238E27FC236}">
                <a16:creationId xmlns:a16="http://schemas.microsoft.com/office/drawing/2014/main" id="{5281BB81-F022-B38D-1F70-D5B5107601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41639B3D-4BCB-2F30-F641-FA3E92546409}"/>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CO" sz="1600" b="1" dirty="0">
              <a:solidFill>
                <a:srgbClr val="C00000"/>
              </a:solidFill>
            </a:endParaRPr>
          </a:p>
        </p:txBody>
      </p:sp>
      <p:graphicFrame>
        <p:nvGraphicFramePr>
          <p:cNvPr id="20" name="Tabla 19">
            <a:extLst>
              <a:ext uri="{FF2B5EF4-FFF2-40B4-BE49-F238E27FC236}">
                <a16:creationId xmlns:a16="http://schemas.microsoft.com/office/drawing/2014/main" id="{5C124B38-E8D9-68FC-BB90-58E65969B857}"/>
              </a:ext>
            </a:extLst>
          </p:cNvPr>
          <p:cNvGraphicFramePr>
            <a:graphicFrameLocks noGrp="1"/>
          </p:cNvGraphicFramePr>
          <p:nvPr>
            <p:extLst>
              <p:ext uri="{D42A27DB-BD31-4B8C-83A1-F6EECF244321}">
                <p14:modId xmlns:p14="http://schemas.microsoft.com/office/powerpoint/2010/main" val="3110419378"/>
              </p:ext>
            </p:extLst>
          </p:nvPr>
        </p:nvGraphicFramePr>
        <p:xfrm>
          <a:off x="1212352" y="1845943"/>
          <a:ext cx="9767296" cy="1600200"/>
        </p:xfrm>
        <a:graphic>
          <a:graphicData uri="http://schemas.openxmlformats.org/drawingml/2006/table">
            <a:tbl>
              <a:tblPr firstRow="1">
                <a:tableStyleId>{5C22544A-7EE6-4342-B048-85BDC9FD1C3A}</a:tableStyleId>
              </a:tblPr>
              <a:tblGrid>
                <a:gridCol w="9767296">
                  <a:extLst>
                    <a:ext uri="{9D8B030D-6E8A-4147-A177-3AD203B41FA5}">
                      <a16:colId xmlns:a16="http://schemas.microsoft.com/office/drawing/2014/main" val="2203408343"/>
                    </a:ext>
                  </a:extLst>
                </a:gridCol>
              </a:tblGrid>
              <a:tr h="1044796">
                <a:tc>
                  <a:txBody>
                    <a:bodyPr/>
                    <a:lstStyle/>
                    <a:p>
                      <a:pPr marL="0" indent="0" algn="just">
                        <a:buFontTx/>
                        <a:buNone/>
                      </a:pPr>
                      <a:r>
                        <a:rPr lang="es-ES" sz="1100" b="1" dirty="0">
                          <a:solidFill>
                            <a:schemeClr val="tx1"/>
                          </a:solidFill>
                        </a:rPr>
                        <a:t>Ocupación: </a:t>
                      </a:r>
                      <a:r>
                        <a:rPr lang="es-ES" sz="1100" b="0" dirty="0">
                          <a:solidFill>
                            <a:schemeClr val="tx1"/>
                          </a:solidFill>
                        </a:rPr>
                        <a:t>Se evidencia que los jubilados y estudiantes son los más propensos a suscribir depósitos a plazo. Los jubilados prefieren esta opción para generar ingresos mediante intereses, ya que suelen tener menos gastos y no necesitan liquidez inmediata. Los estudiantes también muestran una tendencia a suscribir depósitos a plazo, posiblemente como una opción de ahorro seguro. </a:t>
                      </a:r>
                    </a:p>
                    <a:p>
                      <a:pPr marL="0" indent="0" algn="just">
                        <a:buFont typeface="Arial" panose="020B0604020202020204" pitchFamily="34" charset="0"/>
                        <a:buNone/>
                      </a:pPr>
                      <a:endParaRPr lang="es-ES" sz="1100" b="0" dirty="0">
                        <a:solidFill>
                          <a:schemeClr val="tx1"/>
                        </a:solidFill>
                      </a:endParaRPr>
                    </a:p>
                    <a:p>
                      <a:pPr marL="0" indent="0" algn="just">
                        <a:buFontTx/>
                        <a:buNone/>
                      </a:pPr>
                      <a:r>
                        <a:rPr lang="es-ES" sz="1100" b="1" dirty="0">
                          <a:solidFill>
                            <a:schemeClr val="tx1"/>
                          </a:solidFill>
                        </a:rPr>
                        <a:t>Prestamos: </a:t>
                      </a:r>
                      <a:r>
                        <a:rPr lang="es-ES" sz="1100" b="0" dirty="0">
                          <a:solidFill>
                            <a:schemeClr val="tx1"/>
                          </a:solidFill>
                        </a:rPr>
                        <a:t>Los clientes con saldos bajos o sin saldo son más propensos a tener un préstamo hipotecario, lo que limita su capacidad para suscribir depósitos a plazo. En cambio, aquellos con saldos promedio y altos, al tener menos compromisos financieros, muestran una mayor probabilidad de abrir un depósito a plazo. La próxima campaña de marketing debería enfocarse en este segmento de clientes con saldos medios y altos para maximizar la suscripción de depósitos a plazo.</a:t>
                      </a:r>
                    </a:p>
                    <a:p>
                      <a:pPr marL="0" indent="0" algn="just">
                        <a:buFontTx/>
                        <a:buNone/>
                      </a:pPr>
                      <a:endParaRPr lang="es-ES" sz="1100" b="0" dirty="0">
                        <a:solidFill>
                          <a:schemeClr val="tx1"/>
                        </a:solidFill>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21" name="CuadroTexto 20">
            <a:extLst>
              <a:ext uri="{FF2B5EF4-FFF2-40B4-BE49-F238E27FC236}">
                <a16:creationId xmlns:a16="http://schemas.microsoft.com/office/drawing/2014/main" id="{597EFF52-74E9-B169-9D12-17BF8791C371}"/>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Perfil</a:t>
            </a:r>
          </a:p>
        </p:txBody>
      </p:sp>
      <p:pic>
        <p:nvPicPr>
          <p:cNvPr id="4" name="Imagen 3">
            <a:extLst>
              <a:ext uri="{FF2B5EF4-FFF2-40B4-BE49-F238E27FC236}">
                <a16:creationId xmlns:a16="http://schemas.microsoft.com/office/drawing/2014/main" id="{BAE53DE5-3362-AD6D-6689-65DD010A04A1}"/>
              </a:ext>
            </a:extLst>
          </p:cNvPr>
          <p:cNvPicPr>
            <a:picLocks noChangeAspect="1"/>
          </p:cNvPicPr>
          <p:nvPr/>
        </p:nvPicPr>
        <p:blipFill>
          <a:blip r:embed="rId4"/>
          <a:stretch>
            <a:fillRect/>
          </a:stretch>
        </p:blipFill>
        <p:spPr>
          <a:xfrm>
            <a:off x="858707" y="3855818"/>
            <a:ext cx="6459236" cy="1939682"/>
          </a:xfrm>
          <a:prstGeom prst="rect">
            <a:avLst/>
          </a:prstGeom>
        </p:spPr>
      </p:pic>
      <p:pic>
        <p:nvPicPr>
          <p:cNvPr id="5" name="Imagen 4">
            <a:extLst>
              <a:ext uri="{FF2B5EF4-FFF2-40B4-BE49-F238E27FC236}">
                <a16:creationId xmlns:a16="http://schemas.microsoft.com/office/drawing/2014/main" id="{FF03362A-5235-D931-42DF-55B368904BFE}"/>
              </a:ext>
            </a:extLst>
          </p:cNvPr>
          <p:cNvPicPr>
            <a:picLocks noChangeAspect="1"/>
          </p:cNvPicPr>
          <p:nvPr/>
        </p:nvPicPr>
        <p:blipFill>
          <a:blip r:embed="rId5"/>
          <a:stretch>
            <a:fillRect/>
          </a:stretch>
        </p:blipFill>
        <p:spPr>
          <a:xfrm>
            <a:off x="7874986" y="3898557"/>
            <a:ext cx="3147627" cy="1854205"/>
          </a:xfrm>
          <a:prstGeom prst="rect">
            <a:avLst/>
          </a:prstGeom>
        </p:spPr>
      </p:pic>
    </p:spTree>
    <p:extLst>
      <p:ext uri="{BB962C8B-B14F-4D97-AF65-F5344CB8AC3E}">
        <p14:creationId xmlns:p14="http://schemas.microsoft.com/office/powerpoint/2010/main" val="2857382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6C90-0618-47A4-B5B6-46FCA721F960}"/>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F339C14-2328-5803-AA20-1FFD39A7B531}"/>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pPr rtl="0"/>
              <a:t>16</a:t>
            </a:fld>
            <a:endParaRPr lang="es-ES"/>
          </a:p>
        </p:txBody>
      </p:sp>
      <p:sp>
        <p:nvSpPr>
          <p:cNvPr id="17" name="Título 2">
            <a:extLst>
              <a:ext uri="{FF2B5EF4-FFF2-40B4-BE49-F238E27FC236}">
                <a16:creationId xmlns:a16="http://schemas.microsoft.com/office/drawing/2014/main" id="{209A9A3A-E656-3F92-0965-1BEA243B1BBE}"/>
              </a:ext>
            </a:extLst>
          </p:cNvPr>
          <p:cNvSpPr txBox="1">
            <a:spLocks/>
          </p:cNvSpPr>
          <p:nvPr/>
        </p:nvSpPr>
        <p:spPr>
          <a:xfrm>
            <a:off x="0" y="7491"/>
            <a:ext cx="12192000" cy="1050758"/>
          </a:xfrm>
          <a:prstGeom prst="rect">
            <a:avLst/>
          </a:prstGeom>
          <a:solidFill>
            <a:schemeClr val="bg1">
              <a:lumMod val="95000"/>
            </a:schemeClr>
          </a:solidFill>
        </p:spPr>
        <p:txBody>
          <a:bodyPr vert="horz" lIns="457200" tIns="45720" rIns="457200" bIns="45720" rtlCol="0" anchor="ctr">
            <a:noAutofit/>
          </a:bodyPr>
          <a:lst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a:lstStyle>
          <a:p>
            <a:r>
              <a:rPr lang="es-ES" dirty="0">
                <a:solidFill>
                  <a:srgbClr val="C00000"/>
                </a:solidFill>
              </a:rPr>
              <a:t>HALLAZGOS Y CONCLUSIONES</a:t>
            </a:r>
          </a:p>
        </p:txBody>
      </p:sp>
      <p:pic>
        <p:nvPicPr>
          <p:cNvPr id="18" name="Picture 2" descr="Datecsa - Banco de Alimentos Cali">
            <a:extLst>
              <a:ext uri="{FF2B5EF4-FFF2-40B4-BE49-F238E27FC236}">
                <a16:creationId xmlns:a16="http://schemas.microsoft.com/office/drawing/2014/main" id="{2DF01EC5-2B34-01CD-1353-320708C4581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6F2E89F8-0174-06BF-286E-7398B60A80C6}"/>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CO" sz="1600" b="1" dirty="0">
              <a:solidFill>
                <a:srgbClr val="C00000"/>
              </a:solidFill>
            </a:endParaRPr>
          </a:p>
        </p:txBody>
      </p:sp>
      <p:graphicFrame>
        <p:nvGraphicFramePr>
          <p:cNvPr id="20" name="Tabla 19">
            <a:extLst>
              <a:ext uri="{FF2B5EF4-FFF2-40B4-BE49-F238E27FC236}">
                <a16:creationId xmlns:a16="http://schemas.microsoft.com/office/drawing/2014/main" id="{2190C145-0937-8192-E232-F24D771623BA}"/>
              </a:ext>
            </a:extLst>
          </p:cNvPr>
          <p:cNvGraphicFramePr>
            <a:graphicFrameLocks noGrp="1"/>
          </p:cNvGraphicFramePr>
          <p:nvPr>
            <p:extLst>
              <p:ext uri="{D42A27DB-BD31-4B8C-83A1-F6EECF244321}">
                <p14:modId xmlns:p14="http://schemas.microsoft.com/office/powerpoint/2010/main" val="3452511359"/>
              </p:ext>
            </p:extLst>
          </p:nvPr>
        </p:nvGraphicFramePr>
        <p:xfrm>
          <a:off x="1212352" y="1845943"/>
          <a:ext cx="9767296" cy="1264920"/>
        </p:xfrm>
        <a:graphic>
          <a:graphicData uri="http://schemas.openxmlformats.org/drawingml/2006/table">
            <a:tbl>
              <a:tblPr firstRow="1">
                <a:tableStyleId>{5C22544A-7EE6-4342-B048-85BDC9FD1C3A}</a:tableStyleId>
              </a:tblPr>
              <a:tblGrid>
                <a:gridCol w="9767296">
                  <a:extLst>
                    <a:ext uri="{9D8B030D-6E8A-4147-A177-3AD203B41FA5}">
                      <a16:colId xmlns:a16="http://schemas.microsoft.com/office/drawing/2014/main" val="2203408343"/>
                    </a:ext>
                  </a:extLst>
                </a:gridCol>
              </a:tblGrid>
              <a:tr h="1044796">
                <a:tc>
                  <a:txBody>
                    <a:bodyPr/>
                    <a:lstStyle/>
                    <a:p>
                      <a:pPr marL="0" indent="0" algn="just">
                        <a:buFontTx/>
                        <a:buNone/>
                      </a:pPr>
                      <a:r>
                        <a:rPr lang="es-ES" sz="1100" b="1" dirty="0">
                          <a:solidFill>
                            <a:schemeClr val="tx1"/>
                          </a:solidFill>
                        </a:rPr>
                        <a:t>Campaña anterior: </a:t>
                      </a:r>
                      <a:r>
                        <a:rPr lang="es-ES" sz="1100" b="0" dirty="0">
                          <a:solidFill>
                            <a:schemeClr val="tx1"/>
                          </a:solidFill>
                        </a:rPr>
                        <a:t>Si la campaña anterior fue exitosa, esto representa una gran oportunidad para aprovechar la base de clientes comprometidos. Continuar con estrategias que mantengan o aumenten la duración de las interacciones, como un cuestionario interactivo durante las llamadas, podría mejorar aún más los resultados. Aumentar el compromiso de los clientes potenciales incrementa la probabilidad de que abran un depósito a plazo, lo que contribuirá a seguir optimizando las futuras campañas de marketing.</a:t>
                      </a:r>
                    </a:p>
                    <a:p>
                      <a:pPr marL="0" indent="0" algn="just">
                        <a:buFont typeface="Arial" panose="020B0604020202020204" pitchFamily="34" charset="0"/>
                        <a:buNone/>
                      </a:pPr>
                      <a:endParaRPr lang="es-ES" sz="1100" b="0" dirty="0">
                        <a:solidFill>
                          <a:schemeClr val="tx1"/>
                        </a:solidFill>
                      </a:endParaRPr>
                    </a:p>
                    <a:p>
                      <a:pPr marL="0" indent="0" algn="just">
                        <a:buFontTx/>
                        <a:buNone/>
                      </a:pPr>
                      <a:r>
                        <a:rPr lang="es-ES" sz="1100" b="1" dirty="0">
                          <a:solidFill>
                            <a:schemeClr val="tx1"/>
                          </a:solidFill>
                        </a:rPr>
                        <a:t>Alcance: </a:t>
                      </a:r>
                      <a:r>
                        <a:rPr lang="es-ES" sz="1100" b="0" dirty="0">
                          <a:solidFill>
                            <a:schemeClr val="tx1"/>
                          </a:solidFill>
                        </a:rPr>
                        <a:t>Las personas solteras representan un mercado sin explotar, ya que las personas casadas actualmente constituyen una porción mayor de la base de clientes. Centrarse en clientes individuales podría mejorar las tasas generales de depósito.</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21" name="CuadroTexto 20">
            <a:extLst>
              <a:ext uri="{FF2B5EF4-FFF2-40B4-BE49-F238E27FC236}">
                <a16:creationId xmlns:a16="http://schemas.microsoft.com/office/drawing/2014/main" id="{51E1CE2A-CB4D-23AD-1BF5-1BE83D6A9C9E}"/>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Plan</a:t>
            </a:r>
          </a:p>
        </p:txBody>
      </p:sp>
      <p:pic>
        <p:nvPicPr>
          <p:cNvPr id="3" name="Imagen 2">
            <a:extLst>
              <a:ext uri="{FF2B5EF4-FFF2-40B4-BE49-F238E27FC236}">
                <a16:creationId xmlns:a16="http://schemas.microsoft.com/office/drawing/2014/main" id="{79311CC0-479B-439C-3D46-EA5CC555A85C}"/>
              </a:ext>
            </a:extLst>
          </p:cNvPr>
          <p:cNvPicPr>
            <a:picLocks noChangeAspect="1"/>
          </p:cNvPicPr>
          <p:nvPr/>
        </p:nvPicPr>
        <p:blipFill>
          <a:blip r:embed="rId4"/>
          <a:stretch>
            <a:fillRect/>
          </a:stretch>
        </p:blipFill>
        <p:spPr>
          <a:xfrm>
            <a:off x="296332" y="3504759"/>
            <a:ext cx="5782735" cy="1809797"/>
          </a:xfrm>
          <a:prstGeom prst="rect">
            <a:avLst/>
          </a:prstGeom>
        </p:spPr>
      </p:pic>
      <p:pic>
        <p:nvPicPr>
          <p:cNvPr id="6" name="Imagen 5">
            <a:extLst>
              <a:ext uri="{FF2B5EF4-FFF2-40B4-BE49-F238E27FC236}">
                <a16:creationId xmlns:a16="http://schemas.microsoft.com/office/drawing/2014/main" id="{51BCC743-FC3D-FBFA-C7D2-565862D6DAC5}"/>
              </a:ext>
            </a:extLst>
          </p:cNvPr>
          <p:cNvPicPr>
            <a:picLocks noChangeAspect="1"/>
          </p:cNvPicPr>
          <p:nvPr/>
        </p:nvPicPr>
        <p:blipFill>
          <a:blip r:embed="rId5"/>
          <a:stretch>
            <a:fillRect/>
          </a:stretch>
        </p:blipFill>
        <p:spPr>
          <a:xfrm>
            <a:off x="6112935" y="4409657"/>
            <a:ext cx="6014316" cy="1843740"/>
          </a:xfrm>
          <a:prstGeom prst="rect">
            <a:avLst/>
          </a:prstGeom>
        </p:spPr>
      </p:pic>
    </p:spTree>
    <p:extLst>
      <p:ext uri="{BB962C8B-B14F-4D97-AF65-F5344CB8AC3E}">
        <p14:creationId xmlns:p14="http://schemas.microsoft.com/office/powerpoint/2010/main" val="14016466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49C4D-FEE6-A320-31E0-B36F20A4F910}"/>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55C8163-9E97-0913-5A87-B118F05F31F8}"/>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pPr rtl="0"/>
              <a:t>17</a:t>
            </a:fld>
            <a:endParaRPr lang="es-ES"/>
          </a:p>
        </p:txBody>
      </p:sp>
      <p:sp>
        <p:nvSpPr>
          <p:cNvPr id="17" name="Título 2">
            <a:extLst>
              <a:ext uri="{FF2B5EF4-FFF2-40B4-BE49-F238E27FC236}">
                <a16:creationId xmlns:a16="http://schemas.microsoft.com/office/drawing/2014/main" id="{B008F9B7-02EF-B80B-6F9A-695FB9FEC7A7}"/>
              </a:ext>
            </a:extLst>
          </p:cNvPr>
          <p:cNvSpPr txBox="1">
            <a:spLocks/>
          </p:cNvSpPr>
          <p:nvPr/>
        </p:nvSpPr>
        <p:spPr>
          <a:xfrm>
            <a:off x="0" y="7491"/>
            <a:ext cx="12192000" cy="1050758"/>
          </a:xfrm>
          <a:prstGeom prst="rect">
            <a:avLst/>
          </a:prstGeom>
          <a:solidFill>
            <a:schemeClr val="bg1">
              <a:lumMod val="95000"/>
            </a:schemeClr>
          </a:solidFill>
        </p:spPr>
        <p:txBody>
          <a:bodyPr vert="horz" lIns="457200" tIns="45720" rIns="457200" bIns="45720" rtlCol="0" anchor="ctr">
            <a:noAutofit/>
          </a:bodyPr>
          <a:lst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a:lstStyle>
          <a:p>
            <a:r>
              <a:rPr lang="es-ES" dirty="0">
                <a:solidFill>
                  <a:srgbClr val="C00000"/>
                </a:solidFill>
              </a:rPr>
              <a:t>HALLAZGOS Y CONCLUSIONES</a:t>
            </a:r>
          </a:p>
        </p:txBody>
      </p:sp>
      <p:pic>
        <p:nvPicPr>
          <p:cNvPr id="18" name="Picture 2" descr="Datecsa - Banco de Alimentos Cali">
            <a:extLst>
              <a:ext uri="{FF2B5EF4-FFF2-40B4-BE49-F238E27FC236}">
                <a16:creationId xmlns:a16="http://schemas.microsoft.com/office/drawing/2014/main" id="{BFFE6C51-B979-2CE3-9BF0-BBD5DB23FCE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20DB2FAF-6557-3B3B-1A2A-5C6800F94A51}"/>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CO" sz="1600" b="1" dirty="0">
              <a:solidFill>
                <a:srgbClr val="C00000"/>
              </a:solidFill>
            </a:endParaRPr>
          </a:p>
        </p:txBody>
      </p:sp>
      <p:graphicFrame>
        <p:nvGraphicFramePr>
          <p:cNvPr id="20" name="Tabla 19">
            <a:extLst>
              <a:ext uri="{FF2B5EF4-FFF2-40B4-BE49-F238E27FC236}">
                <a16:creationId xmlns:a16="http://schemas.microsoft.com/office/drawing/2014/main" id="{11FFE47A-032D-9645-3E69-E687B9CC2870}"/>
              </a:ext>
            </a:extLst>
          </p:cNvPr>
          <p:cNvGraphicFramePr>
            <a:graphicFrameLocks noGrp="1"/>
          </p:cNvGraphicFramePr>
          <p:nvPr>
            <p:extLst>
              <p:ext uri="{D42A27DB-BD31-4B8C-83A1-F6EECF244321}">
                <p14:modId xmlns:p14="http://schemas.microsoft.com/office/powerpoint/2010/main" val="337019580"/>
              </p:ext>
            </p:extLst>
          </p:nvPr>
        </p:nvGraphicFramePr>
        <p:xfrm>
          <a:off x="1212352" y="1845943"/>
          <a:ext cx="9767296" cy="632274"/>
        </p:xfrm>
        <a:graphic>
          <a:graphicData uri="http://schemas.openxmlformats.org/drawingml/2006/table">
            <a:tbl>
              <a:tblPr firstRow="1">
                <a:tableStyleId>{5C22544A-7EE6-4342-B048-85BDC9FD1C3A}</a:tableStyleId>
              </a:tblPr>
              <a:tblGrid>
                <a:gridCol w="9767296">
                  <a:extLst>
                    <a:ext uri="{9D8B030D-6E8A-4147-A177-3AD203B41FA5}">
                      <a16:colId xmlns:a16="http://schemas.microsoft.com/office/drawing/2014/main" val="2203408343"/>
                    </a:ext>
                  </a:extLst>
                </a:gridCol>
              </a:tblGrid>
              <a:tr h="632274">
                <a:tc>
                  <a:txBody>
                    <a:bodyPr/>
                    <a:lstStyle/>
                    <a:p>
                      <a:pPr marL="0" indent="0" algn="just">
                        <a:buFontTx/>
                        <a:buNone/>
                      </a:pPr>
                      <a:r>
                        <a:rPr lang="es-ES" sz="1100" b="1" dirty="0">
                          <a:solidFill>
                            <a:schemeClr val="tx1"/>
                          </a:solidFill>
                        </a:rPr>
                        <a:t>Duración de llamada: </a:t>
                      </a:r>
                      <a:r>
                        <a:rPr lang="es-ES" sz="1100" b="0" dirty="0">
                          <a:solidFill>
                            <a:schemeClr val="tx1"/>
                          </a:solidFill>
                        </a:rPr>
                        <a:t>Desarrollar un cuestionario atractivo durante las llamadas puede aumentar la duración de la conversación, lo cual está correlacionado positivamente con la probabilidad de que un cliente potencial abra un depósito a plazo. Aunque esto no garantiza que el cliente suscriba el depósito, al menos incrementará el compromiso del cliente potencial, mejorando así la efectividad de la próxima campaña de marketing del banco.</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21" name="CuadroTexto 20">
            <a:extLst>
              <a:ext uri="{FF2B5EF4-FFF2-40B4-BE49-F238E27FC236}">
                <a16:creationId xmlns:a16="http://schemas.microsoft.com/office/drawing/2014/main" id="{B4ADA4CF-88D6-37DC-048C-E79DC9B98254}"/>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Contacto</a:t>
            </a:r>
          </a:p>
        </p:txBody>
      </p:sp>
      <p:pic>
        <p:nvPicPr>
          <p:cNvPr id="4" name="Imagen 3">
            <a:extLst>
              <a:ext uri="{FF2B5EF4-FFF2-40B4-BE49-F238E27FC236}">
                <a16:creationId xmlns:a16="http://schemas.microsoft.com/office/drawing/2014/main" id="{B3BB5683-E1D9-3ABE-EE25-777046555994}"/>
              </a:ext>
            </a:extLst>
          </p:cNvPr>
          <p:cNvPicPr>
            <a:picLocks noChangeAspect="1"/>
          </p:cNvPicPr>
          <p:nvPr/>
        </p:nvPicPr>
        <p:blipFill>
          <a:blip r:embed="rId4"/>
          <a:stretch>
            <a:fillRect/>
          </a:stretch>
        </p:blipFill>
        <p:spPr>
          <a:xfrm>
            <a:off x="469522" y="2890739"/>
            <a:ext cx="5292421" cy="2200888"/>
          </a:xfrm>
          <a:prstGeom prst="rect">
            <a:avLst/>
          </a:prstGeom>
        </p:spPr>
      </p:pic>
      <p:pic>
        <p:nvPicPr>
          <p:cNvPr id="5" name="Imagen 4">
            <a:extLst>
              <a:ext uri="{FF2B5EF4-FFF2-40B4-BE49-F238E27FC236}">
                <a16:creationId xmlns:a16="http://schemas.microsoft.com/office/drawing/2014/main" id="{9CDD10CE-FBD3-DC7D-7BAB-D8127E212B48}"/>
              </a:ext>
            </a:extLst>
          </p:cNvPr>
          <p:cNvPicPr>
            <a:picLocks noChangeAspect="1"/>
          </p:cNvPicPr>
          <p:nvPr/>
        </p:nvPicPr>
        <p:blipFill>
          <a:blip r:embed="rId5"/>
          <a:stretch>
            <a:fillRect/>
          </a:stretch>
        </p:blipFill>
        <p:spPr>
          <a:xfrm>
            <a:off x="6430059" y="2890739"/>
            <a:ext cx="5401815" cy="2200888"/>
          </a:xfrm>
          <a:prstGeom prst="rect">
            <a:avLst/>
          </a:prstGeom>
        </p:spPr>
      </p:pic>
    </p:spTree>
    <p:extLst>
      <p:ext uri="{BB962C8B-B14F-4D97-AF65-F5344CB8AC3E}">
        <p14:creationId xmlns:p14="http://schemas.microsoft.com/office/powerpoint/2010/main" val="13641129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9851B-EBB0-0688-F0BA-5BA3669AC124}"/>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EB07DFB-FF26-9F84-2D29-9D2F3E6E9D76}"/>
              </a:ext>
            </a:extLst>
          </p:cNvPr>
          <p:cNvSpPr>
            <a:spLocks noGrp="1"/>
          </p:cNvSpPr>
          <p:nvPr>
            <p:ph type="sldNum" sz="quarter" idx="4294967295"/>
          </p:nvPr>
        </p:nvSpPr>
        <p:spPr>
          <a:xfrm>
            <a:off x="9448800" y="6316663"/>
            <a:ext cx="2743200" cy="365125"/>
          </a:xfrm>
        </p:spPr>
        <p:txBody>
          <a:bodyPr rtlCol="0"/>
          <a:lstStyle/>
          <a:p>
            <a:pPr rtl="0"/>
            <a:fld id="{5AE1514C-5E56-4738-A1FF-4B1CFD2A3E36}" type="slidenum">
              <a:rPr lang="es-ES" smtClean="0"/>
              <a:pPr rtl="0"/>
              <a:t>18</a:t>
            </a:fld>
            <a:endParaRPr lang="es-ES"/>
          </a:p>
        </p:txBody>
      </p:sp>
      <p:sp>
        <p:nvSpPr>
          <p:cNvPr id="17" name="Título 2">
            <a:extLst>
              <a:ext uri="{FF2B5EF4-FFF2-40B4-BE49-F238E27FC236}">
                <a16:creationId xmlns:a16="http://schemas.microsoft.com/office/drawing/2014/main" id="{9A467307-9BD7-89CD-9AB1-D921296E4BD5}"/>
              </a:ext>
            </a:extLst>
          </p:cNvPr>
          <p:cNvSpPr txBox="1">
            <a:spLocks/>
          </p:cNvSpPr>
          <p:nvPr/>
        </p:nvSpPr>
        <p:spPr>
          <a:xfrm>
            <a:off x="0" y="7491"/>
            <a:ext cx="12192000" cy="1050758"/>
          </a:xfrm>
          <a:prstGeom prst="rect">
            <a:avLst/>
          </a:prstGeom>
          <a:solidFill>
            <a:schemeClr val="bg1">
              <a:lumMod val="95000"/>
            </a:schemeClr>
          </a:solidFill>
        </p:spPr>
        <p:txBody>
          <a:bodyPr vert="horz" lIns="457200" tIns="45720" rIns="457200" bIns="45720" rtlCol="0" anchor="ctr">
            <a:noAutofit/>
          </a:bodyPr>
          <a:lst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a:lstStyle>
          <a:p>
            <a:r>
              <a:rPr lang="es-ES" dirty="0">
                <a:solidFill>
                  <a:srgbClr val="C00000"/>
                </a:solidFill>
              </a:rPr>
              <a:t>PROPUESTA DE ESTRATEGIA</a:t>
            </a:r>
          </a:p>
        </p:txBody>
      </p:sp>
      <p:pic>
        <p:nvPicPr>
          <p:cNvPr id="18" name="Picture 2" descr="Datecsa - Banco de Alimentos Cali">
            <a:extLst>
              <a:ext uri="{FF2B5EF4-FFF2-40B4-BE49-F238E27FC236}">
                <a16:creationId xmlns:a16="http://schemas.microsoft.com/office/drawing/2014/main" id="{1B6D9E97-C1CC-578C-6478-1FFBCFC0DD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3184" y="176212"/>
            <a:ext cx="1283370" cy="5088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7FDB4939-CEB3-8469-5407-64D13A9EF069}"/>
              </a:ext>
            </a:extLst>
          </p:cNvPr>
          <p:cNvSpPr/>
          <p:nvPr/>
        </p:nvSpPr>
        <p:spPr>
          <a:xfrm>
            <a:off x="0" y="850848"/>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CO" sz="1600" b="1" dirty="0">
              <a:solidFill>
                <a:srgbClr val="C00000"/>
              </a:solidFill>
            </a:endParaRPr>
          </a:p>
        </p:txBody>
      </p:sp>
      <p:graphicFrame>
        <p:nvGraphicFramePr>
          <p:cNvPr id="20" name="Tabla 19">
            <a:extLst>
              <a:ext uri="{FF2B5EF4-FFF2-40B4-BE49-F238E27FC236}">
                <a16:creationId xmlns:a16="http://schemas.microsoft.com/office/drawing/2014/main" id="{DA74BE12-196C-D8DC-9E4F-C2575254DAEA}"/>
              </a:ext>
            </a:extLst>
          </p:cNvPr>
          <p:cNvGraphicFramePr>
            <a:graphicFrameLocks noGrp="1"/>
          </p:cNvGraphicFramePr>
          <p:nvPr>
            <p:extLst>
              <p:ext uri="{D42A27DB-BD31-4B8C-83A1-F6EECF244321}">
                <p14:modId xmlns:p14="http://schemas.microsoft.com/office/powerpoint/2010/main" val="2839345387"/>
              </p:ext>
            </p:extLst>
          </p:nvPr>
        </p:nvGraphicFramePr>
        <p:xfrm>
          <a:off x="1212352" y="1430914"/>
          <a:ext cx="9767296" cy="1097280"/>
        </p:xfrm>
        <a:graphic>
          <a:graphicData uri="http://schemas.openxmlformats.org/drawingml/2006/table">
            <a:tbl>
              <a:tblPr firstRow="1">
                <a:tableStyleId>{5C22544A-7EE6-4342-B048-85BDC9FD1C3A}</a:tableStyleId>
              </a:tblPr>
              <a:tblGrid>
                <a:gridCol w="9767296">
                  <a:extLst>
                    <a:ext uri="{9D8B030D-6E8A-4147-A177-3AD203B41FA5}">
                      <a16:colId xmlns:a16="http://schemas.microsoft.com/office/drawing/2014/main" val="2203408343"/>
                    </a:ext>
                  </a:extLst>
                </a:gridCol>
              </a:tblGrid>
              <a:tr h="1044796">
                <a:tc>
                  <a:txBody>
                    <a:bodyPr/>
                    <a:lstStyle/>
                    <a:p>
                      <a:pPr marL="171450" indent="-171450" algn="just">
                        <a:buFont typeface="Arial" panose="020B0604020202020204" pitchFamily="34" charset="0"/>
                        <a:buChar char="•"/>
                      </a:pPr>
                      <a:r>
                        <a:rPr lang="es-ES" sz="1100" b="1" dirty="0">
                          <a:solidFill>
                            <a:schemeClr val="tx1"/>
                          </a:solidFill>
                        </a:rPr>
                        <a:t>Optimizar Frecuencia y Calidad de Contacto: </a:t>
                      </a:r>
                      <a:r>
                        <a:rPr lang="es-ES" sz="1100" b="0" dirty="0">
                          <a:solidFill>
                            <a:schemeClr val="tx1"/>
                          </a:solidFill>
                        </a:rPr>
                        <a:t>Reducir la frecuencia de llamadas y priorizar interacciones significativas para aumentar las conversiones.</a:t>
                      </a:r>
                    </a:p>
                    <a:p>
                      <a:pPr marL="171450" indent="-171450" algn="just">
                        <a:buFont typeface="Arial" panose="020B0604020202020204" pitchFamily="34" charset="0"/>
                        <a:buChar char="•"/>
                      </a:pPr>
                      <a:r>
                        <a:rPr lang="es-ES" sz="1100" b="1" dirty="0">
                          <a:solidFill>
                            <a:schemeClr val="tx1"/>
                          </a:solidFill>
                        </a:rPr>
                        <a:t>Segmentación Eficiente: </a:t>
                      </a:r>
                      <a:r>
                        <a:rPr lang="es-ES" sz="1100" b="0" dirty="0" err="1">
                          <a:solidFill>
                            <a:schemeClr val="tx1"/>
                          </a:solidFill>
                        </a:rPr>
                        <a:t>Despriorizar</a:t>
                      </a:r>
                      <a:r>
                        <a:rPr lang="es-ES" sz="1100" b="0" dirty="0">
                          <a:solidFill>
                            <a:schemeClr val="tx1"/>
                          </a:solidFill>
                        </a:rPr>
                        <a:t> la edad y enfocar campañas en clientes de campañas anteriores y en demografías clave (estudiantes, emprendedores, solteros).</a:t>
                      </a:r>
                    </a:p>
                    <a:p>
                      <a:pPr marL="171450" indent="-171450" algn="just">
                        <a:buFont typeface="Arial" panose="020B0604020202020204" pitchFamily="34" charset="0"/>
                        <a:buChar char="•"/>
                      </a:pPr>
                      <a:r>
                        <a:rPr lang="es-ES" sz="1100" b="1" dirty="0">
                          <a:solidFill>
                            <a:schemeClr val="tx1"/>
                          </a:solidFill>
                        </a:rPr>
                        <a:t>Ampliar Canales Digitales: </a:t>
                      </a:r>
                      <a:r>
                        <a:rPr lang="es-ES" sz="1100" b="0" dirty="0">
                          <a:solidFill>
                            <a:schemeClr val="tx1"/>
                          </a:solidFill>
                        </a:rPr>
                        <a:t>Incrementar el marketing en redes sociales para atraer a clientes jóvenes y digitalmente activos.</a:t>
                      </a:r>
                    </a:p>
                    <a:p>
                      <a:pPr marL="171450" indent="-171450" algn="just">
                        <a:buFont typeface="Arial" panose="020B0604020202020204" pitchFamily="34" charset="0"/>
                        <a:buChar char="•"/>
                      </a:pPr>
                      <a:r>
                        <a:rPr lang="es-ES" sz="1100" b="1" dirty="0">
                          <a:solidFill>
                            <a:schemeClr val="tx1"/>
                          </a:solidFill>
                        </a:rPr>
                        <a:t>Aumentar Contacto al Fin de Año: </a:t>
                      </a:r>
                      <a:r>
                        <a:rPr lang="es-ES" sz="1100" b="0" dirty="0">
                          <a:solidFill>
                            <a:schemeClr val="tx1"/>
                          </a:solidFill>
                        </a:rPr>
                        <a:t>Incrementar el contacto en el último trimestre para captar depósitos al inicio del año.</a:t>
                      </a:r>
                    </a:p>
                    <a:p>
                      <a:pPr marL="171450" indent="-171450" algn="just">
                        <a:buFont typeface="Arial" panose="020B0604020202020204" pitchFamily="34" charset="0"/>
                        <a:buChar char="•"/>
                      </a:pPr>
                      <a:r>
                        <a:rPr lang="es-ES" sz="1100" b="1" dirty="0">
                          <a:solidFill>
                            <a:schemeClr val="tx1"/>
                          </a:solidFill>
                        </a:rPr>
                        <a:t>Mantener Comunicación en Meses de Baja: </a:t>
                      </a:r>
                      <a:r>
                        <a:rPr lang="es-ES" sz="1100" b="0" dirty="0">
                          <a:solidFill>
                            <a:schemeClr val="tx1"/>
                          </a:solidFill>
                        </a:rPr>
                        <a:t>Fomentar depósitos constantes en meses con actividad históricamente baja.</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sp>
        <p:nvSpPr>
          <p:cNvPr id="21" name="CuadroTexto 20">
            <a:extLst>
              <a:ext uri="{FF2B5EF4-FFF2-40B4-BE49-F238E27FC236}">
                <a16:creationId xmlns:a16="http://schemas.microsoft.com/office/drawing/2014/main" id="{896F8D5C-173D-692E-FC61-EC14FE1314A1}"/>
              </a:ext>
            </a:extLst>
          </p:cNvPr>
          <p:cNvSpPr txBox="1"/>
          <p:nvPr/>
        </p:nvSpPr>
        <p:spPr>
          <a:xfrm>
            <a:off x="160866" y="914627"/>
            <a:ext cx="3454401" cy="338554"/>
          </a:xfrm>
          <a:prstGeom prst="rect">
            <a:avLst/>
          </a:prstGeom>
          <a:noFill/>
        </p:spPr>
        <p:txBody>
          <a:bodyPr wrap="square" rtlCol="0">
            <a:spAutoFit/>
          </a:bodyPr>
          <a:lstStyle/>
          <a:p>
            <a:r>
              <a:rPr lang="es-CO" sz="1600" b="1" dirty="0">
                <a:solidFill>
                  <a:srgbClr val="C00000"/>
                </a:solidFill>
              </a:rPr>
              <a:t>Prioridades</a:t>
            </a:r>
          </a:p>
        </p:txBody>
      </p:sp>
      <p:pic>
        <p:nvPicPr>
          <p:cNvPr id="3" name="Imagen 2">
            <a:extLst>
              <a:ext uri="{FF2B5EF4-FFF2-40B4-BE49-F238E27FC236}">
                <a16:creationId xmlns:a16="http://schemas.microsoft.com/office/drawing/2014/main" id="{8EFA610B-08F5-E656-855E-B2E8248E03B9}"/>
              </a:ext>
            </a:extLst>
          </p:cNvPr>
          <p:cNvPicPr>
            <a:picLocks noChangeAspect="1"/>
          </p:cNvPicPr>
          <p:nvPr/>
        </p:nvPicPr>
        <p:blipFill>
          <a:blip r:embed="rId4"/>
          <a:stretch>
            <a:fillRect/>
          </a:stretch>
        </p:blipFill>
        <p:spPr>
          <a:xfrm>
            <a:off x="28884" y="3294610"/>
            <a:ext cx="7495304" cy="545245"/>
          </a:xfrm>
          <a:prstGeom prst="rect">
            <a:avLst/>
          </a:prstGeom>
        </p:spPr>
      </p:pic>
      <p:sp>
        <p:nvSpPr>
          <p:cNvPr id="10" name="Rectángulo 9">
            <a:extLst>
              <a:ext uri="{FF2B5EF4-FFF2-40B4-BE49-F238E27FC236}">
                <a16:creationId xmlns:a16="http://schemas.microsoft.com/office/drawing/2014/main" id="{82B559DE-5433-5A86-CD9E-F6A48ADC4E3F}"/>
              </a:ext>
            </a:extLst>
          </p:cNvPr>
          <p:cNvSpPr/>
          <p:nvPr/>
        </p:nvSpPr>
        <p:spPr>
          <a:xfrm>
            <a:off x="0" y="2667802"/>
            <a:ext cx="3115733" cy="46611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CO" sz="1600" b="1" dirty="0">
              <a:solidFill>
                <a:srgbClr val="C00000"/>
              </a:solidFill>
            </a:endParaRPr>
          </a:p>
        </p:txBody>
      </p:sp>
      <p:sp>
        <p:nvSpPr>
          <p:cNvPr id="11" name="CuadroTexto 10">
            <a:extLst>
              <a:ext uri="{FF2B5EF4-FFF2-40B4-BE49-F238E27FC236}">
                <a16:creationId xmlns:a16="http://schemas.microsoft.com/office/drawing/2014/main" id="{9BC6526B-4AC3-0FE7-BA7D-549B7919B901}"/>
              </a:ext>
            </a:extLst>
          </p:cNvPr>
          <p:cNvSpPr txBox="1"/>
          <p:nvPr/>
        </p:nvSpPr>
        <p:spPr>
          <a:xfrm>
            <a:off x="160866" y="2731581"/>
            <a:ext cx="3454401" cy="338554"/>
          </a:xfrm>
          <a:prstGeom prst="rect">
            <a:avLst/>
          </a:prstGeom>
          <a:noFill/>
        </p:spPr>
        <p:txBody>
          <a:bodyPr wrap="square" rtlCol="0">
            <a:spAutoFit/>
          </a:bodyPr>
          <a:lstStyle/>
          <a:p>
            <a:r>
              <a:rPr lang="es-CO" sz="1600" b="1" dirty="0">
                <a:solidFill>
                  <a:srgbClr val="C00000"/>
                </a:solidFill>
              </a:rPr>
              <a:t>Eficiencia de costos</a:t>
            </a:r>
          </a:p>
        </p:txBody>
      </p:sp>
      <p:grpSp>
        <p:nvGrpSpPr>
          <p:cNvPr id="15" name="Grupo 14">
            <a:extLst>
              <a:ext uri="{FF2B5EF4-FFF2-40B4-BE49-F238E27FC236}">
                <a16:creationId xmlns:a16="http://schemas.microsoft.com/office/drawing/2014/main" id="{6DF226B7-86AF-C680-298F-E2DAE5E6C928}"/>
              </a:ext>
            </a:extLst>
          </p:cNvPr>
          <p:cNvGrpSpPr/>
          <p:nvPr/>
        </p:nvGrpSpPr>
        <p:grpSpPr>
          <a:xfrm>
            <a:off x="160866" y="3958379"/>
            <a:ext cx="4317112" cy="2007794"/>
            <a:chOff x="593556" y="3935579"/>
            <a:chExt cx="4317112" cy="2007794"/>
          </a:xfrm>
        </p:grpSpPr>
        <p:sp>
          <p:nvSpPr>
            <p:cNvPr id="14" name="Rectángulo: esquinas redondeadas 13">
              <a:extLst>
                <a:ext uri="{FF2B5EF4-FFF2-40B4-BE49-F238E27FC236}">
                  <a16:creationId xmlns:a16="http://schemas.microsoft.com/office/drawing/2014/main" id="{6F5805B0-156A-B1C6-7B3C-FAC83A38CCF3}"/>
                </a:ext>
              </a:extLst>
            </p:cNvPr>
            <p:cNvSpPr>
              <a:spLocks/>
            </p:cNvSpPr>
            <p:nvPr/>
          </p:nvSpPr>
          <p:spPr>
            <a:xfrm>
              <a:off x="593556" y="3935579"/>
              <a:ext cx="4317112" cy="2007794"/>
            </a:xfrm>
            <a:prstGeom prst="roundRect">
              <a:avLst>
                <a:gd name="adj" fmla="val 1098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13" name="Tabla 12">
              <a:extLst>
                <a:ext uri="{FF2B5EF4-FFF2-40B4-BE49-F238E27FC236}">
                  <a16:creationId xmlns:a16="http://schemas.microsoft.com/office/drawing/2014/main" id="{E303D2A6-0285-B8B0-51E4-82E817B7376A}"/>
                </a:ext>
              </a:extLst>
            </p:cNvPr>
            <p:cNvGraphicFramePr>
              <a:graphicFrameLocks/>
            </p:cNvGraphicFramePr>
            <p:nvPr>
              <p:extLst>
                <p:ext uri="{D42A27DB-BD31-4B8C-83A1-F6EECF244321}">
                  <p14:modId xmlns:p14="http://schemas.microsoft.com/office/powerpoint/2010/main" val="2602749374"/>
                </p:ext>
              </p:extLst>
            </p:nvPr>
          </p:nvGraphicFramePr>
          <p:xfrm>
            <a:off x="661654" y="4075559"/>
            <a:ext cx="4180916" cy="1600200"/>
          </p:xfrm>
          <a:graphic>
            <a:graphicData uri="http://schemas.openxmlformats.org/drawingml/2006/table">
              <a:tbl>
                <a:tblPr firstRow="1">
                  <a:tableStyleId>{5C22544A-7EE6-4342-B048-85BDC9FD1C3A}</a:tableStyleId>
                </a:tblPr>
                <a:tblGrid>
                  <a:gridCol w="4180916">
                    <a:extLst>
                      <a:ext uri="{9D8B030D-6E8A-4147-A177-3AD203B41FA5}">
                        <a16:colId xmlns:a16="http://schemas.microsoft.com/office/drawing/2014/main" val="2203408343"/>
                      </a:ext>
                    </a:extLst>
                  </a:gridCol>
                </a:tblGrid>
                <a:tr h="1044796">
                  <a:tc>
                    <a:txBody>
                      <a:bodyPr/>
                      <a:lstStyle/>
                      <a:p>
                        <a:pPr marL="0" indent="0" algn="just">
                          <a:buFont typeface="Arial" panose="020B0604020202020204" pitchFamily="34" charset="0"/>
                          <a:buNone/>
                        </a:pPr>
                        <a:r>
                          <a:rPr lang="es-ES" sz="1100" b="0" dirty="0">
                            <a:solidFill>
                              <a:schemeClr val="tx1"/>
                            </a:solidFill>
                          </a:rPr>
                          <a:t>Un punto clave de la estrategia es optimizar el </a:t>
                        </a:r>
                        <a:r>
                          <a:rPr lang="es-ES" sz="1100" b="1" dirty="0">
                            <a:solidFill>
                              <a:schemeClr val="tx1"/>
                            </a:solidFill>
                          </a:rPr>
                          <a:t>beneficio neto </a:t>
                        </a:r>
                        <a:r>
                          <a:rPr lang="es-ES" sz="1100" b="0" dirty="0">
                            <a:solidFill>
                              <a:schemeClr val="tx1"/>
                            </a:solidFill>
                          </a:rPr>
                          <a:t>al equilibrar los costos de contacto y las ganancias por conversiones exitosas. Esto implica ajustar el umbral de predicción del modelo según el </a:t>
                        </a:r>
                        <a:r>
                          <a:rPr lang="es-ES" sz="1100" b="1" dirty="0">
                            <a:solidFill>
                              <a:schemeClr val="tx1"/>
                            </a:solidFill>
                          </a:rPr>
                          <a:t>apetito de riesgo </a:t>
                        </a:r>
                        <a:r>
                          <a:rPr lang="es-ES" sz="1100" b="0" dirty="0">
                            <a:solidFill>
                              <a:schemeClr val="tx1"/>
                            </a:solidFill>
                          </a:rPr>
                          <a:t>de la compañía: si el apetito de riesgo es alto, se tolerarán más contactos (incluso si algunos no convierten) para maximizar las oportunidades de conversión; si es bajo, se priorizará la eficiencia, contactando solo a los clientes con mayor probabilidad de éxito. </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grpSp>
      <p:graphicFrame>
        <p:nvGraphicFramePr>
          <p:cNvPr id="16" name="Tabla 15">
            <a:extLst>
              <a:ext uri="{FF2B5EF4-FFF2-40B4-BE49-F238E27FC236}">
                <a16:creationId xmlns:a16="http://schemas.microsoft.com/office/drawing/2014/main" id="{C8A7042E-0269-00C7-95EF-AF00715F9E77}"/>
              </a:ext>
            </a:extLst>
          </p:cNvPr>
          <p:cNvGraphicFramePr>
            <a:graphicFrameLocks noGrp="1"/>
          </p:cNvGraphicFramePr>
          <p:nvPr>
            <p:extLst>
              <p:ext uri="{D42A27DB-BD31-4B8C-83A1-F6EECF244321}">
                <p14:modId xmlns:p14="http://schemas.microsoft.com/office/powerpoint/2010/main" val="1024950345"/>
              </p:ext>
            </p:extLst>
          </p:nvPr>
        </p:nvGraphicFramePr>
        <p:xfrm>
          <a:off x="4546076" y="4016028"/>
          <a:ext cx="2744168" cy="1767840"/>
        </p:xfrm>
        <a:graphic>
          <a:graphicData uri="http://schemas.openxmlformats.org/drawingml/2006/table">
            <a:tbl>
              <a:tblPr firstRow="1">
                <a:tableStyleId>{5C22544A-7EE6-4342-B048-85BDC9FD1C3A}</a:tableStyleId>
              </a:tblPr>
              <a:tblGrid>
                <a:gridCol w="2744168">
                  <a:extLst>
                    <a:ext uri="{9D8B030D-6E8A-4147-A177-3AD203B41FA5}">
                      <a16:colId xmlns:a16="http://schemas.microsoft.com/office/drawing/2014/main" val="2203408343"/>
                    </a:ext>
                  </a:extLst>
                </a:gridCol>
              </a:tblGrid>
              <a:tr h="1044796">
                <a:tc>
                  <a:txBody>
                    <a:bodyPr/>
                    <a:lstStyle/>
                    <a:p>
                      <a:pPr marL="0" indent="0" algn="just">
                        <a:buFont typeface="Arial" panose="020B0604020202020204" pitchFamily="34" charset="0"/>
                        <a:buNone/>
                      </a:pPr>
                      <a:r>
                        <a:rPr lang="es-ES" sz="1100" b="1" dirty="0">
                          <a:solidFill>
                            <a:schemeClr val="tx1"/>
                          </a:solidFill>
                        </a:rPr>
                        <a:t>VP</a:t>
                      </a:r>
                      <a:r>
                        <a:rPr lang="es-ES" sz="1100" b="0" dirty="0">
                          <a:solidFill>
                            <a:schemeClr val="tx1"/>
                          </a:solidFill>
                        </a:rPr>
                        <a:t> = Verdaderos positivos (Predicción correcta de cliente éxito en campaña)</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100" b="1" dirty="0">
                          <a:solidFill>
                            <a:schemeClr val="tx1"/>
                          </a:solidFill>
                        </a:rPr>
                        <a:t>FP</a:t>
                      </a:r>
                      <a:r>
                        <a:rPr lang="es-ES" sz="1100" b="0" dirty="0">
                          <a:solidFill>
                            <a:schemeClr val="tx1"/>
                          </a:solidFill>
                        </a:rPr>
                        <a:t> = Falsos positivos (Predicción incorrecta de cliente éxito en campaña)</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100" b="1" dirty="0">
                          <a:solidFill>
                            <a:schemeClr val="tx1"/>
                          </a:solidFill>
                        </a:rPr>
                        <a:t>FN</a:t>
                      </a:r>
                      <a:r>
                        <a:rPr lang="es-ES" sz="1100" b="0" dirty="0">
                          <a:solidFill>
                            <a:schemeClr val="tx1"/>
                          </a:solidFill>
                        </a:rPr>
                        <a:t> = Falsos negativos (Cliente éxito en campaña no identificado en predicción)</a:t>
                      </a:r>
                    </a:p>
                    <a:p>
                      <a:pPr marL="0" indent="0" algn="just">
                        <a:buFont typeface="Arial" panose="020B0604020202020204" pitchFamily="34" charset="0"/>
                        <a:buNone/>
                      </a:pPr>
                      <a:endParaRPr lang="es-ES" sz="1100" b="0" dirty="0">
                        <a:solidFill>
                          <a:schemeClr val="tx1"/>
                        </a:solidFill>
                      </a:endParaRPr>
                    </a:p>
                    <a:p>
                      <a:pPr marL="171450" indent="-171450" algn="just">
                        <a:buFont typeface="Arial" panose="020B0604020202020204" pitchFamily="34" charset="0"/>
                        <a:buChar char="•"/>
                      </a:pPr>
                      <a:r>
                        <a:rPr lang="es-ES" sz="1100" b="0" dirty="0" err="1">
                          <a:solidFill>
                            <a:schemeClr val="tx1"/>
                          </a:solidFill>
                        </a:rPr>
                        <a:t>contacto_costo</a:t>
                      </a:r>
                      <a:r>
                        <a:rPr lang="es-ES" sz="1100" b="0" dirty="0">
                          <a:solidFill>
                            <a:schemeClr val="tx1"/>
                          </a:solidFill>
                        </a:rPr>
                        <a:t> = -$15</a:t>
                      </a:r>
                    </a:p>
                    <a:p>
                      <a:pPr marL="171450" indent="-171450" algn="just">
                        <a:buFont typeface="Arial" panose="020B0604020202020204" pitchFamily="34" charset="0"/>
                        <a:buChar char="•"/>
                      </a:pPr>
                      <a:r>
                        <a:rPr lang="es-ES" sz="1100" b="0" dirty="0" err="1">
                          <a:solidFill>
                            <a:schemeClr val="tx1"/>
                          </a:solidFill>
                        </a:rPr>
                        <a:t>ganancia_vp</a:t>
                      </a:r>
                      <a:r>
                        <a:rPr lang="es-ES" sz="1100" b="0" dirty="0">
                          <a:solidFill>
                            <a:schemeClr val="tx1"/>
                          </a:solidFill>
                        </a:rPr>
                        <a:t> = $50</a:t>
                      </a:r>
                    </a:p>
                    <a:p>
                      <a:pPr marL="171450" indent="-171450" algn="just">
                        <a:buFont typeface="Arial" panose="020B0604020202020204" pitchFamily="34" charset="0"/>
                        <a:buChar char="•"/>
                      </a:pPr>
                      <a:r>
                        <a:rPr lang="es-ES" sz="1100" b="0" dirty="0" err="1">
                          <a:solidFill>
                            <a:schemeClr val="tx1"/>
                          </a:solidFill>
                        </a:rPr>
                        <a:t>perdida_fn</a:t>
                      </a:r>
                      <a:r>
                        <a:rPr lang="es-ES" sz="1100" b="0" dirty="0">
                          <a:solidFill>
                            <a:schemeClr val="tx1"/>
                          </a:solidFill>
                        </a:rPr>
                        <a:t> = $-30</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graphicFrame>
        <p:nvGraphicFramePr>
          <p:cNvPr id="22" name="Tabla 21">
            <a:extLst>
              <a:ext uri="{FF2B5EF4-FFF2-40B4-BE49-F238E27FC236}">
                <a16:creationId xmlns:a16="http://schemas.microsoft.com/office/drawing/2014/main" id="{E4D06596-601A-5E4B-9665-F96E3ED4F265}"/>
              </a:ext>
            </a:extLst>
          </p:cNvPr>
          <p:cNvGraphicFramePr>
            <a:graphicFrameLocks noGrp="1"/>
          </p:cNvGraphicFramePr>
          <p:nvPr>
            <p:extLst>
              <p:ext uri="{D42A27DB-BD31-4B8C-83A1-F6EECF244321}">
                <p14:modId xmlns:p14="http://schemas.microsoft.com/office/powerpoint/2010/main" val="651170132"/>
              </p:ext>
            </p:extLst>
          </p:nvPr>
        </p:nvGraphicFramePr>
        <p:xfrm>
          <a:off x="160866" y="6120078"/>
          <a:ext cx="7129378" cy="518160"/>
        </p:xfrm>
        <a:graphic>
          <a:graphicData uri="http://schemas.openxmlformats.org/drawingml/2006/table">
            <a:tbl>
              <a:tblPr firstRow="1">
                <a:tableStyleId>{5C22544A-7EE6-4342-B048-85BDC9FD1C3A}</a:tableStyleId>
              </a:tblPr>
              <a:tblGrid>
                <a:gridCol w="7129378">
                  <a:extLst>
                    <a:ext uri="{9D8B030D-6E8A-4147-A177-3AD203B41FA5}">
                      <a16:colId xmlns:a16="http://schemas.microsoft.com/office/drawing/2014/main" val="2203408343"/>
                    </a:ext>
                  </a:extLst>
                </a:gridCol>
              </a:tblGrid>
              <a:tr h="365126">
                <a:tc>
                  <a:txBody>
                    <a:bodyPr/>
                    <a:lstStyle/>
                    <a:p>
                      <a:pPr marL="0" indent="0" algn="just">
                        <a:buFont typeface="Arial" panose="020B0604020202020204" pitchFamily="34" charset="0"/>
                        <a:buNone/>
                      </a:pPr>
                      <a:r>
                        <a:rPr lang="es-ES" sz="1400" b="0" dirty="0">
                          <a:solidFill>
                            <a:schemeClr val="tx1"/>
                          </a:solidFill>
                        </a:rPr>
                        <a:t>Se sugiere el uso del modelo </a:t>
                      </a:r>
                      <a:r>
                        <a:rPr lang="es-ES" sz="1400" b="1" dirty="0">
                          <a:solidFill>
                            <a:schemeClr val="tx1"/>
                          </a:solidFill>
                        </a:rPr>
                        <a:t>Regresión Logística</a:t>
                      </a:r>
                      <a:r>
                        <a:rPr lang="es-ES" sz="1400" b="0" dirty="0">
                          <a:solidFill>
                            <a:schemeClr val="tx1"/>
                          </a:solidFill>
                        </a:rPr>
                        <a:t> para maximizar el beneficio neto con </a:t>
                      </a:r>
                      <a:r>
                        <a:rPr lang="es-ES" sz="1400" b="1" dirty="0">
                          <a:solidFill>
                            <a:schemeClr val="tx1"/>
                          </a:solidFill>
                        </a:rPr>
                        <a:t>25K USD </a:t>
                      </a:r>
                      <a:r>
                        <a:rPr lang="es-ES" sz="1400" b="0" dirty="0">
                          <a:solidFill>
                            <a:schemeClr val="tx1"/>
                          </a:solidFill>
                        </a:rPr>
                        <a:t>con un umbral superior al 0,02.</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5060090"/>
                  </a:ext>
                </a:extLst>
              </a:tr>
            </a:tbl>
          </a:graphicData>
        </a:graphic>
      </p:graphicFrame>
      <p:pic>
        <p:nvPicPr>
          <p:cNvPr id="24" name="Imagen 23">
            <a:extLst>
              <a:ext uri="{FF2B5EF4-FFF2-40B4-BE49-F238E27FC236}">
                <a16:creationId xmlns:a16="http://schemas.microsoft.com/office/drawing/2014/main" id="{AAD32AC2-6EEC-FEEB-FE93-00EEB8BDF7F2}"/>
              </a:ext>
            </a:extLst>
          </p:cNvPr>
          <p:cNvPicPr>
            <a:picLocks noChangeAspect="1"/>
          </p:cNvPicPr>
          <p:nvPr/>
        </p:nvPicPr>
        <p:blipFill>
          <a:blip r:embed="rId5"/>
          <a:stretch>
            <a:fillRect/>
          </a:stretch>
        </p:blipFill>
        <p:spPr>
          <a:xfrm>
            <a:off x="7524188" y="2861740"/>
            <a:ext cx="3933390" cy="3820048"/>
          </a:xfrm>
          <a:prstGeom prst="rect">
            <a:avLst/>
          </a:prstGeom>
        </p:spPr>
      </p:pic>
    </p:spTree>
    <p:extLst>
      <p:ext uri="{BB962C8B-B14F-4D97-AF65-F5344CB8AC3E}">
        <p14:creationId xmlns:p14="http://schemas.microsoft.com/office/powerpoint/2010/main" val="1258009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Muestra de gráficos inteligentes de Neal Creative">
  <a:themeElements>
    <a:clrScheme name="Neal Analytics 2">
      <a:dk1>
        <a:srgbClr val="000000"/>
      </a:dk1>
      <a:lt1>
        <a:srgbClr val="FFFFFF"/>
      </a:lt1>
      <a:dk2>
        <a:srgbClr val="0074AF"/>
      </a:dk2>
      <a:lt2>
        <a:srgbClr val="00B0F0"/>
      </a:lt2>
      <a:accent1>
        <a:srgbClr val="75D1FF"/>
      </a:accent1>
      <a:accent2>
        <a:srgbClr val="004568"/>
      </a:accent2>
      <a:accent3>
        <a:srgbClr val="92D050"/>
      </a:accent3>
      <a:accent4>
        <a:srgbClr val="FFC000"/>
      </a:accent4>
      <a:accent5>
        <a:srgbClr val="004568"/>
      </a:accent5>
      <a:accent6>
        <a:srgbClr val="0074AF"/>
      </a:accent6>
      <a:hlink>
        <a:srgbClr val="43C0FF"/>
      </a:hlink>
      <a:folHlink>
        <a:srgbClr val="75D1FF"/>
      </a:folHlink>
    </a:clrScheme>
    <a:fontScheme name="MICROSOFT">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9284_TF55917490_Win32" id="{F2C8D705-B5BD-4722-88C3-137C56310FC0}" vid="{98843E38-E990-4B1B-9FCB-50195B92AE3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1604</TotalTime>
  <Words>2423</Words>
  <Application>Microsoft Office PowerPoint</Application>
  <PresentationFormat>Panorámica</PresentationFormat>
  <Paragraphs>192</Paragraphs>
  <Slides>18</Slides>
  <Notes>15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Calibri</vt:lpstr>
      <vt:lpstr>Segoe UI</vt:lpstr>
      <vt:lpstr>Segoe UI Light</vt:lpstr>
      <vt:lpstr>Segoe UI Semibold</vt:lpstr>
      <vt:lpstr>1_Muestra de gráficos inteligentes de Neal Creative</vt:lpstr>
      <vt:lpstr>Presentación de PowerPoint</vt:lpstr>
      <vt:lpstr>Presentación de PowerPoint</vt:lpstr>
      <vt:lpstr>ANÁLISIS DESCRIPTIVO</vt:lpstr>
      <vt:lpstr>ANÁLISIS DESCRIPTIVO</vt:lpstr>
      <vt:lpstr>ANÁLISIS DESCRIPTIVO</vt:lpstr>
      <vt:lpstr>ANÁLISIS DESCRIPTIVO</vt:lpstr>
      <vt:lpstr>ANÁLISIS DESCRIPTIVO</vt:lpstr>
      <vt:lpstr>ANÁLISIS DESCRIPTIVO</vt:lpstr>
      <vt:lpstr>ANÁLISIS DESCRIPTIVO</vt:lpstr>
      <vt:lpstr>MODELO DE PREDICCIÓN</vt:lpstr>
      <vt:lpstr>MODELO DE PREDICCIÓN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Jean  Pierre Londoño Gonzalez</dc:creator>
  <cp:keywords/>
  <dc:description/>
  <cp:lastModifiedBy>Jean  Pierre Londoño Gonzalez</cp:lastModifiedBy>
  <cp:revision>1</cp:revision>
  <dcterms:created xsi:type="dcterms:W3CDTF">2024-11-07T20:23:17Z</dcterms:created>
  <dcterms:modified xsi:type="dcterms:W3CDTF">2025-12-17T02:56:05Z</dcterms:modified>
  <cp:category/>
</cp:coreProperties>
</file>